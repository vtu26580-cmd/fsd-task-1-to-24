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2" r:id="rId15"/>
    <p:sldId id="271" r:id="rId16"/>
    <p:sldId id="270" r:id="rId17"/>
    <p:sldId id="265" r:id="rId18"/>
  </p:sldIdLst>
  <p:sldSz cx="18288000" cy="10287000"/>
  <p:notesSz cx="6858000" cy="9144000"/>
  <p:embeddedFontLst>
    <p:embeddedFont>
      <p:font typeface="Bookman Old Style" panose="02050604050505020204" pitchFamily="18" charset="0"/>
      <p:regular r:id="rId19"/>
      <p:bold r:id="rId20"/>
      <p:italic r:id="rId21"/>
      <p:boldItalic r:id="rId22"/>
    </p:embeddedFont>
    <p:embeddedFont>
      <p:font typeface="Cambria" panose="02040503050406030204" pitchFamily="18" charset="0"/>
      <p:regular r:id="rId23"/>
      <p:bold r:id="rId24"/>
      <p:italic r:id="rId25"/>
      <p:boldItalic r:id="rId26"/>
    </p:embeddedFont>
    <p:embeddedFont>
      <p:font typeface="Gotham" panose="020B0604020202020204" charset="0"/>
      <p:regular r:id="rId27"/>
    </p:embeddedFont>
    <p:embeddedFont>
      <p:font typeface="Gotham Bold Italics" panose="020B0604020202020204" charset="0"/>
      <p:regular r:id="rId28"/>
      <p:boldItalic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showGuides="1">
      <p:cViewPr varScale="1">
        <p:scale>
          <a:sx n="51" d="100"/>
          <a:sy n="51" d="100"/>
        </p:scale>
        <p:origin x="898"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t>5/5/2026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t>5/5/2026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t>5/5/2026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5/5/2026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t>5/5/2026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5/5/2026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grpSp>
        <p:nvGrpSpPr>
          <p:cNvPr id="19" name="Group 19"/>
          <p:cNvGrpSpPr/>
          <p:nvPr/>
        </p:nvGrpSpPr>
        <p:grpSpPr>
          <a:xfrm>
            <a:off x="-9965724" y="-13069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pic>
        <p:nvPicPr>
          <p:cNvPr id="23" name="Picture 22"/>
          <p:cNvPicPr>
            <a:picLocks noChangeAspect="1"/>
          </p:cNvPicPr>
          <p:nvPr/>
        </p:nvPicPr>
        <p:blipFill>
          <a:blip r:embed="rId2"/>
          <a:stretch>
            <a:fillRect/>
          </a:stretch>
        </p:blipFill>
        <p:spPr>
          <a:xfrm>
            <a:off x="6799772" y="16492"/>
            <a:ext cx="4131816" cy="1784622"/>
          </a:xfrm>
          <a:prstGeom prst="rect">
            <a:avLst/>
          </a:prstGeom>
        </p:spPr>
      </p:pic>
      <p:sp>
        <p:nvSpPr>
          <p:cNvPr id="24" name="TextBox 23"/>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p:cNvSpPr txBox="1"/>
          <p:nvPr/>
        </p:nvSpPr>
        <p:spPr>
          <a:xfrm>
            <a:off x="3727757" y="3897940"/>
            <a:ext cx="11190289" cy="1753235"/>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p:cNvSpPr txBox="1"/>
          <p:nvPr/>
        </p:nvSpPr>
        <p:spPr>
          <a:xfrm>
            <a:off x="1501775" y="5706110"/>
            <a:ext cx="15784195" cy="728980"/>
          </a:xfrm>
          <a:prstGeom prst="rect">
            <a:avLst/>
          </a:prstGeom>
          <a:noFill/>
        </p:spPr>
        <p:txBody>
          <a:bodyPr wrap="square" rtlCol="0">
            <a:noAutofit/>
          </a:bodyPr>
          <a:lstStyle/>
          <a:p>
            <a:pPr algn="ctr"/>
            <a:r>
              <a:rPr lang="en-US" sz="3200" b="1" dirty="0">
                <a:solidFill>
                  <a:srgbClr val="0033CC"/>
                </a:solidFill>
                <a:sym typeface="+mn-ea"/>
              </a:rPr>
              <a:t>“</a:t>
            </a:r>
            <a:r>
              <a:rPr lang="en-US" altLang="en-GB" sz="3200" b="1" dirty="0">
                <a:solidFill>
                  <a:srgbClr val="0033CC"/>
                </a:solidFill>
                <a:sym typeface="+mn-ea"/>
              </a:rPr>
              <a:t>TICKET BOOKING OF AN INTERNAL DEPARTMENT EVENT</a:t>
            </a:r>
            <a:r>
              <a:rPr lang="en-US" sz="3200" b="1" dirty="0">
                <a:solidFill>
                  <a:srgbClr val="0033CC"/>
                </a:solidFill>
                <a:sym typeface="+mn-ea"/>
              </a:rPr>
              <a:t>”</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893870" y="7800539"/>
            <a:ext cx="9067800" cy="208416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sym typeface="+mn-ea"/>
              </a:rPr>
              <a:t>L.Sesha</a:t>
            </a:r>
            <a:r>
              <a:rPr lang="en-US" sz="3000" dirty="0">
                <a:latin typeface="Cambria" panose="02040503050406030204" pitchFamily="18" charset="0"/>
                <a:ea typeface="Cambria" panose="02040503050406030204" pitchFamily="18" charset="0"/>
                <a:sym typeface="+mn-ea"/>
              </a:rPr>
              <a:t> Sai – VTU26580– 23UECS0307</a:t>
            </a:r>
            <a:endParaRPr lang="en-IN" sz="3000" dirty="0">
              <a:latin typeface="Cambria" panose="02040503050406030204" pitchFamily="18" charset="0"/>
              <a:ea typeface="Cambria" panose="02040503050406030204" pitchFamily="18" charset="0"/>
            </a:endParaRPr>
          </a:p>
          <a:p>
            <a:pPr>
              <a:lnSpc>
                <a:spcPct val="150000"/>
              </a:lnSpc>
            </a:pPr>
            <a:endParaRPr lang="en-IN" sz="3000" dirty="0">
              <a:latin typeface="Cambria" panose="02040503050406030204" pitchFamily="18" charset="0"/>
              <a:ea typeface="Cambria" panose="02040503050406030204" pitchFamily="18" charset="0"/>
            </a:endParaRPr>
          </a:p>
        </p:txBody>
      </p:sp>
      <p:sp>
        <p:nvSpPr>
          <p:cNvPr id="15" name="TextBox 14"/>
          <p:cNvSpPr txBox="1"/>
          <p:nvPr/>
        </p:nvSpPr>
        <p:spPr>
          <a:xfrm>
            <a:off x="10945035" y="7818586"/>
            <a:ext cx="6914603" cy="286131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altLang="en-GB" sz="3000" dirty="0">
                <a:latin typeface="Cambria" panose="02040503050406030204" pitchFamily="18" charset="0"/>
                <a:ea typeface="Cambria" panose="02040503050406030204" pitchFamily="18" charset="0"/>
                <a:sym typeface="+mn-ea"/>
              </a:rPr>
              <a:t>Dr. HAFIZUR RAHMAN - B.E., M.Tech., Ph.D. ASSISTANT PROFESSOR</a:t>
            </a:r>
            <a:endParaRPr lang="en-US" altLang="en-GB" sz="3000" dirty="0">
              <a:latin typeface="Cambria" panose="02040503050406030204" pitchFamily="18" charset="0"/>
              <a:ea typeface="Cambria" panose="02040503050406030204" pitchFamily="18" charset="0"/>
            </a:endParaRPr>
          </a:p>
          <a:p>
            <a:pPr>
              <a:lnSpc>
                <a:spcPct val="150000"/>
              </a:lnSpc>
            </a:pPr>
            <a:endParaRPr lang="en-IN" sz="3000" dirty="0">
              <a:latin typeface="Cambria" panose="02040503050406030204" pitchFamily="18" charset="0"/>
              <a:ea typeface="Cambria" panose="02040503050406030204" pitchFamily="18" charset="0"/>
            </a:endParaRPr>
          </a:p>
        </p:txBody>
      </p:sp>
      <p:sp>
        <p:nvSpPr>
          <p:cNvPr id="16" name="TextBox 15"/>
          <p:cNvSpPr txBox="1"/>
          <p:nvPr/>
        </p:nvSpPr>
        <p:spPr>
          <a:xfrm>
            <a:off x="2209800" y="6972300"/>
            <a:ext cx="14743170" cy="706755"/>
          </a:xfrm>
          <a:prstGeom prst="rect">
            <a:avLst/>
          </a:prstGeom>
          <a:noFill/>
        </p:spPr>
        <p:txBody>
          <a:bodyPr wrap="square" rtlCol="0">
            <a:spAutoFit/>
          </a:bodyPr>
          <a:lstStyle/>
          <a:p>
            <a:pPr algn="ctr"/>
            <a:r>
              <a:rPr lang="en-US" sz="2000" b="1" dirty="0">
                <a:latin typeface="Cambria" panose="02040503050406030204" pitchFamily="18" charset="0"/>
                <a:ea typeface="Cambria" panose="02040503050406030204" pitchFamily="18" charset="0"/>
                <a:sym typeface="+mn-ea"/>
              </a:rPr>
              <a:t>SDG: SDG No – SDG 4 – Quality Education</a:t>
            </a:r>
            <a:endParaRPr lang="en-IN" sz="2000" b="1" dirty="0">
              <a:latin typeface="Cambria" panose="02040503050406030204" pitchFamily="18" charset="0"/>
              <a:ea typeface="Cambria" panose="02040503050406030204" pitchFamily="18" charset="0"/>
            </a:endParaRPr>
          </a:p>
          <a:p>
            <a:pPr algn="ct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dirty="0">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p:cNvSpPr txBox="1"/>
          <p:nvPr/>
        </p:nvSpPr>
        <p:spPr>
          <a:xfrm>
            <a:off x="152400" y="342900"/>
            <a:ext cx="15849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209800" y="1638300"/>
            <a:ext cx="15082325" cy="13449300"/>
          </a:xfrm>
          <a:prstGeom prst="rect">
            <a:avLst/>
          </a:prstGeom>
          <a:noFill/>
        </p:spPr>
        <p:txBody>
          <a:bodyPr wrap="square" rtlCol="0">
            <a:spAutoFit/>
          </a:bodyPr>
          <a:lstStyle/>
          <a:p>
            <a:pPr indent="0">
              <a:buFontTx/>
              <a:buNone/>
            </a:pPr>
            <a:r>
              <a:rPr lang="en-US" sz="2800" b="1" dirty="0">
                <a:sym typeface="+mn-ea"/>
              </a:rPr>
              <a:t>Problem: </a:t>
            </a:r>
            <a:r>
              <a:rPr lang="en-US" sz="2800" dirty="0">
                <a:sym typeface="+mn-ea"/>
              </a:rPr>
              <a:t>Students and staff often face difficulties in booking tickets for internal department events like technical fests, seminars, and workshops due to manual registration processes, lack of centralized systems, and limited seat tracking.</a:t>
            </a:r>
            <a:endParaRPr lang="en-US" sz="2800" dirty="0"/>
          </a:p>
          <a:p>
            <a:pPr indent="0">
              <a:buFontTx/>
              <a:buNone/>
            </a:pPr>
            <a:r>
              <a:rPr lang="en-US" sz="2800" b="1" dirty="0">
                <a:sym typeface="+mn-ea"/>
              </a:rPr>
              <a:t>Why it matters: </a:t>
            </a:r>
            <a:r>
              <a:rPr lang="en-US" sz="2800" dirty="0">
                <a:sym typeface="+mn-ea"/>
              </a:rPr>
              <a:t>An efficient ticket booking system ensures smooth event participation, avoids overcrowding, and helps organizers manage registrations accurately while providing a better experience for users.</a:t>
            </a:r>
            <a:endParaRPr lang="en-US" sz="2800" dirty="0"/>
          </a:p>
          <a:p>
            <a:pPr indent="0">
              <a:buFontTx/>
              <a:buNone/>
            </a:pPr>
            <a:r>
              <a:rPr lang="en-US" sz="2800" b="1" dirty="0">
                <a:sym typeface="+mn-ea"/>
              </a:rPr>
              <a:t>Real-world relevance: </a:t>
            </a:r>
            <a:r>
              <a:rPr lang="en-US" sz="2800" dirty="0">
                <a:sym typeface="+mn-ea"/>
              </a:rPr>
              <a:t>This system is useful for colleges and organizations to handle event registrations digitally, reducing paperwork and enabling quick access for students, faculty, and event coordinators.</a:t>
            </a:r>
            <a:endParaRPr lang="en-US" sz="2800" dirty="0"/>
          </a:p>
          <a:p>
            <a:pPr indent="0">
              <a:buFontTx/>
              <a:buNone/>
            </a:pPr>
            <a:r>
              <a:rPr lang="en-US" sz="2800" b="1" dirty="0">
                <a:sym typeface="+mn-ea"/>
              </a:rPr>
              <a:t>What the system does: </a:t>
            </a:r>
            <a:r>
              <a:rPr lang="en-US" sz="2800" dirty="0">
                <a:sym typeface="+mn-ea"/>
              </a:rPr>
              <a:t>A web-based application built using React.js that allows users to browse upcoming events, book tickets, and manage their registrations in a structured and user-friendly way.</a:t>
            </a:r>
            <a:endParaRPr lang="en-US" sz="2800" dirty="0"/>
          </a:p>
          <a:p>
            <a:pPr indent="0">
              <a:buFontTx/>
              <a:buNone/>
            </a:pPr>
            <a:r>
              <a:rPr lang="en-US" sz="2800" b="1" dirty="0">
                <a:sym typeface="+mn-ea"/>
              </a:rPr>
              <a:t>Key features: </a:t>
            </a:r>
            <a:r>
              <a:rPr lang="en-US" sz="2800" dirty="0">
                <a:sym typeface="+mn-ea"/>
              </a:rPr>
              <a:t>User authentication, event listing (technical fest, seminars, workshops), ticket booking, seat availability tracking, dashboard overview, and secure data management.</a:t>
            </a:r>
            <a:endParaRPr lang="en-US" sz="2800" dirty="0"/>
          </a:p>
          <a:p>
            <a:pPr indent="0">
              <a:buFontTx/>
              <a:buNone/>
            </a:pPr>
            <a:r>
              <a:rPr lang="en-US" sz="2800" b="1" dirty="0">
                <a:sym typeface="+mn-ea"/>
              </a:rPr>
              <a:t>User experience: </a:t>
            </a:r>
            <a:r>
              <a:rPr lang="en-US" sz="2800" dirty="0">
                <a:sym typeface="+mn-ea"/>
              </a:rPr>
              <a:t>A clean, responsive, and interactive interface with easy navigation, real-time updates on ticket availability, and a seamless booking process.</a:t>
            </a:r>
            <a:endParaRPr lang="en-US" sz="2800" dirty="0"/>
          </a:p>
          <a:p>
            <a:pPr indent="0">
              <a:buFontTx/>
              <a:buNone/>
            </a:pPr>
            <a:r>
              <a:rPr lang="en-US" sz="2800" b="1" dirty="0">
                <a:sym typeface="+mn-ea"/>
              </a:rPr>
              <a:t>Benefits: </a:t>
            </a:r>
            <a:r>
              <a:rPr lang="en-US" sz="2800" dirty="0">
                <a:sym typeface="+mn-ea"/>
              </a:rPr>
              <a:t>Saves time, reduces manual effort, improves event organization, and provides a hassle-free booking experience for users.</a:t>
            </a:r>
            <a:endParaRPr lang="en-US" sz="2800" dirty="0"/>
          </a:p>
          <a:p>
            <a:pPr indent="0">
              <a:buFontTx/>
              <a:buNone/>
            </a:pPr>
            <a:r>
              <a:rPr lang="en-US" sz="2800" b="1" dirty="0">
                <a:sym typeface="+mn-ea"/>
              </a:rPr>
              <a:t>Impact / SDGs: </a:t>
            </a:r>
            <a:r>
              <a:rPr lang="en-US" sz="2800" dirty="0">
                <a:sym typeface="+mn-ea"/>
              </a:rPr>
              <a:t>Supports </a:t>
            </a:r>
            <a:r>
              <a:rPr lang="en-US" sz="2800" b="1" dirty="0">
                <a:sym typeface="+mn-ea"/>
              </a:rPr>
              <a:t>SDG 9 – Industry, Innovation and Infrastructure</a:t>
            </a:r>
            <a:r>
              <a:rPr lang="en-US" sz="2800" dirty="0">
                <a:sym typeface="+mn-ea"/>
              </a:rPr>
              <a:t> by promoting digital solutions and </a:t>
            </a:r>
            <a:r>
              <a:rPr lang="en-US" sz="2800" b="1" dirty="0">
                <a:sym typeface="+mn-ea"/>
              </a:rPr>
              <a:t>SDG 4 – Quality Education</a:t>
            </a:r>
            <a:r>
              <a:rPr lang="en-US" sz="2800" dirty="0">
                <a:sym typeface="+mn-ea"/>
              </a:rPr>
              <a:t> by enhancing access to academic and technical events.</a:t>
            </a:r>
            <a:endParaRPr lang="en-US" sz="2800" dirty="0"/>
          </a:p>
          <a:p>
            <a:pPr indent="0">
              <a:buFontTx/>
              <a:buNone/>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6" name="Group 37"/>
          <p:cNvGrpSpPr/>
          <p:nvPr/>
        </p:nvGrpSpPr>
        <p:grpSpPr>
          <a:xfrm>
            <a:off x="14020800" y="-8142801"/>
            <a:ext cx="10994424" cy="10994424"/>
            <a:chOff x="0" y="0"/>
            <a:chExt cx="812800" cy="812800"/>
          </a:xfrm>
        </p:grpSpPr>
        <p:sp>
          <p:nvSpPr>
            <p:cNvPr id="7"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0"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 name="TextBox 46"/>
          <p:cNvSpPr txBox="1"/>
          <p:nvPr/>
        </p:nvSpPr>
        <p:spPr>
          <a:xfrm>
            <a:off x="0" y="1216416"/>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8" name="TextBox 47"/>
          <p:cNvSpPr txBox="1"/>
          <p:nvPr/>
        </p:nvSpPr>
        <p:spPr>
          <a:xfrm>
            <a:off x="2377440" y="2047875"/>
            <a:ext cx="14914880" cy="13901420"/>
          </a:xfrm>
          <a:prstGeom prst="rect">
            <a:avLst/>
          </a:prstGeom>
          <a:noFill/>
        </p:spPr>
        <p:txBody>
          <a:bodyPr wrap="square" rtlCol="0">
            <a:noAutofit/>
          </a:bodyPr>
          <a:lstStyle/>
          <a:p>
            <a:pPr marL="0" marR="0" lvl="0" indent="0" algn="l" defTabSz="914400" rtl="0" eaLnBrk="0" fontAlgn="base" latinLnBrk="0" hangingPunct="0">
              <a:lnSpc>
                <a:spcPct val="100000"/>
              </a:lnSpc>
              <a:spcBef>
                <a:spcPct val="0"/>
              </a:spcBef>
              <a:spcAft>
                <a:spcPct val="0"/>
              </a:spcAft>
              <a:buClrTx/>
              <a:buSzTx/>
            </a:pPr>
            <a:r>
              <a:rPr lang="en-US" altLang="en-US" sz="2800" b="1" dirty="0">
                <a:ln>
                  <a:noFill/>
                </a:ln>
                <a:effectLst/>
                <a:latin typeface="Times New Roman" panose="02020603050405020304" pitchFamily="18" charset="0"/>
                <a:cs typeface="Times New Roman" panose="02020603050405020304" pitchFamily="18" charset="0"/>
                <a:sym typeface="+mn-ea"/>
              </a:rPr>
              <a:t>Time-consuming:</a:t>
            </a:r>
            <a:r>
              <a:rPr lang="en-US" altLang="en-US" sz="2800" dirty="0">
                <a:ln>
                  <a:noFill/>
                </a:ln>
                <a:effectLst/>
                <a:latin typeface="Times New Roman" panose="02020603050405020304" pitchFamily="18" charset="0"/>
                <a:cs typeface="Times New Roman" panose="02020603050405020304" pitchFamily="18" charset="0"/>
                <a:sym typeface="+mn-ea"/>
              </a:rPr>
              <a:t> Manual event registration and ticket booking consume significant time and effort for both users and organizers.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pPr>
            <a:r>
              <a:rPr lang="en-US" altLang="en-US" sz="2800" b="1" dirty="0">
                <a:ln>
                  <a:noFill/>
                </a:ln>
                <a:effectLst/>
                <a:latin typeface="Times New Roman" panose="02020603050405020304" pitchFamily="18" charset="0"/>
                <a:cs typeface="Times New Roman" panose="02020603050405020304" pitchFamily="18" charset="0"/>
                <a:sym typeface="+mn-ea"/>
              </a:rPr>
              <a:t>Limited accessibility:</a:t>
            </a:r>
            <a:r>
              <a:rPr lang="en-US" altLang="en-US" sz="2800" dirty="0">
                <a:ln>
                  <a:noFill/>
                </a:ln>
                <a:effectLst/>
                <a:latin typeface="Times New Roman" panose="02020603050405020304" pitchFamily="18" charset="0"/>
                <a:cs typeface="Times New Roman" panose="02020603050405020304" pitchFamily="18" charset="0"/>
                <a:sym typeface="+mn-ea"/>
              </a:rPr>
              <a:t> Users may not have a centralized platform to view all upcoming department events </a:t>
            </a:r>
            <a:r>
              <a:rPr lang="en-US" altLang="en-US" sz="2800" dirty="0">
                <a:latin typeface="Times New Roman" panose="02020603050405020304" pitchFamily="18" charset="0"/>
                <a:cs typeface="Times New Roman" panose="02020603050405020304" pitchFamily="18" charset="0"/>
                <a:sym typeface="+mn-ea"/>
              </a:rPr>
              <a:t>.</a:t>
            </a:r>
            <a:endParaRPr lang="en-US" altLang="en-US" sz="2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pPr>
            <a:endParaRPr lang="en-US" altLang="en-US" sz="2800"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pPr>
            <a:r>
              <a:rPr lang="en-US" altLang="en-US" sz="2800" b="1" dirty="0">
                <a:ln>
                  <a:noFill/>
                </a:ln>
                <a:effectLst/>
                <a:latin typeface="Times New Roman" panose="02020603050405020304" pitchFamily="18" charset="0"/>
                <a:cs typeface="Times New Roman" panose="02020603050405020304" pitchFamily="18" charset="0"/>
                <a:sym typeface="+mn-ea"/>
              </a:rPr>
              <a:t>Poor event management:</a:t>
            </a:r>
            <a:r>
              <a:rPr lang="en-US" altLang="en-US" sz="2800" dirty="0">
                <a:ln>
                  <a:noFill/>
                </a:ln>
                <a:effectLst/>
                <a:latin typeface="Times New Roman" panose="02020603050405020304" pitchFamily="18" charset="0"/>
                <a:cs typeface="Times New Roman" panose="02020603050405020304" pitchFamily="18" charset="0"/>
                <a:sym typeface="+mn-ea"/>
              </a:rPr>
              <a:t> Difficulty in tracking registrations, seat availability, and participant details efficiently.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pPr>
            <a:r>
              <a:rPr lang="en-US" altLang="en-US" sz="2800" b="1" dirty="0">
                <a:ln>
                  <a:noFill/>
                </a:ln>
                <a:effectLst/>
                <a:latin typeface="Times New Roman" panose="02020603050405020304" pitchFamily="18" charset="0"/>
                <a:cs typeface="Times New Roman" panose="02020603050405020304" pitchFamily="18" charset="0"/>
                <a:sym typeface="+mn-ea"/>
              </a:rPr>
              <a:t>Data loss risk:</a:t>
            </a:r>
            <a:r>
              <a:rPr lang="en-US" altLang="en-US" sz="2800" dirty="0">
                <a:ln>
                  <a:noFill/>
                </a:ln>
                <a:effectLst/>
                <a:latin typeface="Times New Roman" panose="02020603050405020304" pitchFamily="18" charset="0"/>
                <a:cs typeface="Times New Roman" panose="02020603050405020304" pitchFamily="18" charset="0"/>
                <a:sym typeface="+mn-ea"/>
              </a:rPr>
              <a:t> Manual or unstructured systems may lead to loss of participant and booking information.</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pPr>
            <a:r>
              <a:rPr lang="en-US" altLang="en-US" sz="2800" dirty="0">
                <a:ln>
                  <a:noFill/>
                </a:ln>
                <a:effectLst/>
                <a:latin typeface="Times New Roman" panose="02020603050405020304" pitchFamily="18" charset="0"/>
                <a:cs typeface="Times New Roman" panose="02020603050405020304" pitchFamily="18" charset="0"/>
                <a:sym typeface="+mn-ea"/>
              </a:rPr>
              <a:t>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pPr>
            <a:r>
              <a:rPr lang="en-US" altLang="en-US" sz="2800" b="1" dirty="0">
                <a:ln>
                  <a:noFill/>
                </a:ln>
                <a:effectLst/>
                <a:latin typeface="Times New Roman" panose="02020603050405020304" pitchFamily="18" charset="0"/>
                <a:cs typeface="Times New Roman" panose="02020603050405020304" pitchFamily="18" charset="0"/>
                <a:sym typeface="+mn-ea"/>
              </a:rPr>
              <a:t>Security concerns:</a:t>
            </a:r>
            <a:r>
              <a:rPr lang="en-US" altLang="en-US" sz="2800" dirty="0">
                <a:ln>
                  <a:noFill/>
                </a:ln>
                <a:effectLst/>
                <a:latin typeface="Times New Roman" panose="02020603050405020304" pitchFamily="18" charset="0"/>
                <a:cs typeface="Times New Roman" panose="02020603050405020304" pitchFamily="18" charset="0"/>
                <a:sym typeface="+mn-ea"/>
              </a:rPr>
              <a:t> User data and booking details may not be handled securely in traditional systems.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pPr>
            <a:r>
              <a:rPr lang="en-US" altLang="en-US" sz="2800" b="1" dirty="0">
                <a:ln>
                  <a:noFill/>
                </a:ln>
                <a:effectLst/>
                <a:latin typeface="Times New Roman" panose="02020603050405020304" pitchFamily="18" charset="0"/>
                <a:cs typeface="Times New Roman" panose="02020603050405020304" pitchFamily="18" charset="0"/>
                <a:sym typeface="+mn-ea"/>
              </a:rPr>
              <a:t>No real-time updates:</a:t>
            </a:r>
            <a:r>
              <a:rPr lang="en-US" altLang="en-US" sz="2800" dirty="0">
                <a:ln>
                  <a:noFill/>
                </a:ln>
                <a:effectLst/>
                <a:latin typeface="Times New Roman" panose="02020603050405020304" pitchFamily="18" charset="0"/>
                <a:cs typeface="Times New Roman" panose="02020603050405020304" pitchFamily="18" charset="0"/>
                <a:sym typeface="+mn-ea"/>
              </a:rPr>
              <a:t> Users cannot get instant updates on ticket availability or event status.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pP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pPr>
            <a:r>
              <a:rPr lang="en-US" altLang="en-US" sz="2800" b="1" dirty="0">
                <a:ln>
                  <a:noFill/>
                </a:ln>
                <a:effectLst/>
                <a:latin typeface="Times New Roman" panose="02020603050405020304" pitchFamily="18" charset="0"/>
                <a:cs typeface="Times New Roman" panose="02020603050405020304" pitchFamily="18" charset="0"/>
                <a:sym typeface="+mn-ea"/>
              </a:rPr>
              <a:t>Need:</a:t>
            </a:r>
            <a:r>
              <a:rPr lang="en-US" altLang="en-US" sz="2800" dirty="0">
                <a:ln>
                  <a:noFill/>
                </a:ln>
                <a:effectLst/>
                <a:latin typeface="Times New Roman" panose="02020603050405020304" pitchFamily="18" charset="0"/>
                <a:cs typeface="Times New Roman" panose="02020603050405020304" pitchFamily="18" charset="0"/>
                <a:sym typeface="+mn-ea"/>
              </a:rPr>
              <a:t> A secure and responsive web application to manage event listings, ticket booking, and user data efficiently using modern technologies like React.js. </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indent="0">
              <a:buFontTx/>
              <a:buNone/>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3" name="Group 37"/>
          <p:cNvGrpSpPr/>
          <p:nvPr/>
        </p:nvGrpSpPr>
        <p:grpSpPr>
          <a:xfrm>
            <a:off x="14020800" y="-8142801"/>
            <a:ext cx="10994424" cy="10994424"/>
            <a:chOff x="0" y="0"/>
            <a:chExt cx="812800" cy="812800"/>
          </a:xfrm>
        </p:grpSpPr>
        <p:sp>
          <p:nvSpPr>
            <p:cNvPr id="4"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5"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3" name="Group 37"/>
          <p:cNvGrpSpPr/>
          <p:nvPr/>
        </p:nvGrpSpPr>
        <p:grpSpPr>
          <a:xfrm>
            <a:off x="14020800" y="-8142801"/>
            <a:ext cx="10994424" cy="10994424"/>
            <a:chOff x="0" y="0"/>
            <a:chExt cx="812800" cy="812800"/>
          </a:xfrm>
        </p:grpSpPr>
        <p:sp>
          <p:nvSpPr>
            <p:cNvPr id="4"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5"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6" name="TextBox 5"/>
          <p:cNvSpPr txBox="1"/>
          <p:nvPr/>
        </p:nvSpPr>
        <p:spPr>
          <a:xfrm>
            <a:off x="2209800" y="1638300"/>
            <a:ext cx="15082325" cy="1043305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sym typeface="+mn-ea"/>
              </a:rPr>
              <a:t>Design &amp; develop:</a:t>
            </a:r>
            <a:br>
              <a:rPr lang="en-US" sz="2800" dirty="0">
                <a:latin typeface="Times New Roman" panose="02020603050405020304" pitchFamily="18" charset="0"/>
                <a:cs typeface="Times New Roman" panose="02020603050405020304" pitchFamily="18" charset="0"/>
                <a:sym typeface="+mn-ea"/>
              </a:rPr>
            </a:br>
            <a:r>
              <a:rPr lang="en-US" sz="2800" dirty="0">
                <a:latin typeface="Times New Roman" panose="02020603050405020304" pitchFamily="18" charset="0"/>
                <a:cs typeface="Times New Roman" panose="02020603050405020304" pitchFamily="18" charset="0"/>
                <a:sym typeface="+mn-ea"/>
              </a:rPr>
              <a:t>To build a responsive React.js-based web application that enables users to easily browse, book, and manage tickets for internal department events (target: reduce manual registration effort by ≥50%).</a:t>
            </a:r>
            <a:endParaRPr lang="en-US" sz="2800" dirty="0">
              <a:latin typeface="Times New Roman" panose="02020603050405020304" pitchFamily="18" charset="0"/>
              <a:cs typeface="Times New Roman" panose="02020603050405020304" pitchFamily="18" charset="0"/>
            </a:endParaRPr>
          </a:p>
          <a:p>
            <a:br>
              <a:rPr lang="en-US" sz="2800" dirty="0">
                <a:latin typeface="Times New Roman" panose="02020603050405020304" pitchFamily="18" charset="0"/>
                <a:cs typeface="Times New Roman" panose="02020603050405020304" pitchFamily="18" charset="0"/>
                <a:sym typeface="+mn-ea"/>
              </a:rPr>
            </a:b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sym typeface="+mn-ea"/>
              </a:rPr>
              <a:t>Implement &amp; evaluate:</a:t>
            </a:r>
            <a:br>
              <a:rPr lang="en-US" sz="2800" dirty="0">
                <a:latin typeface="Times New Roman" panose="02020603050405020304" pitchFamily="18" charset="0"/>
                <a:cs typeface="Times New Roman" panose="02020603050405020304" pitchFamily="18" charset="0"/>
                <a:sym typeface="+mn-ea"/>
              </a:rPr>
            </a:br>
            <a:r>
              <a:rPr lang="en-US" sz="2800" dirty="0">
                <a:latin typeface="Times New Roman" panose="02020603050405020304" pitchFamily="18" charset="0"/>
                <a:cs typeface="Times New Roman" panose="02020603050405020304" pitchFamily="18" charset="0"/>
                <a:sym typeface="+mn-ea"/>
              </a:rPr>
              <a:t>To provide real-time event updates, secure user authentication, efficient ticket management, seat availability tracking, and persistent data storage for seamless user experience across sessions.</a:t>
            </a:r>
            <a:endParaRPr lang="en-US" sz="2800" dirty="0">
              <a:latin typeface="Times New Roman" panose="02020603050405020304" pitchFamily="18" charset="0"/>
              <a:cs typeface="Times New Roman" panose="02020603050405020304" pitchFamily="18" charset="0"/>
            </a:endParaRP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TextBox 47"/>
          <p:cNvSpPr txBox="1"/>
          <p:nvPr/>
        </p:nvSpPr>
        <p:spPr>
          <a:xfrm>
            <a:off x="2073275" y="1638300"/>
            <a:ext cx="15219045" cy="7561580"/>
          </a:xfrm>
          <a:prstGeom prst="rect">
            <a:avLst/>
          </a:prstGeom>
          <a:noFill/>
        </p:spPr>
        <p:txBody>
          <a:bodyPr wrap="square" rtlCol="0">
            <a:noAutofit/>
          </a:bodyPr>
          <a:lstStyle/>
          <a:p>
            <a:pPr marL="514350" indent="-514350">
              <a:buFont typeface="+mj-lt"/>
              <a:buAutoNum type="arabicPeriod"/>
            </a:pPr>
            <a:r>
              <a:rPr lang="en-US" sz="2800" b="1" dirty="0">
                <a:latin typeface="Times New Roman" panose="02020603050405020304" pitchFamily="18" charset="0"/>
                <a:cs typeface="Times New Roman" panose="02020603050405020304" pitchFamily="18" charset="0"/>
                <a:sym typeface="+mn-ea"/>
              </a:rPr>
              <a:t>Overview:</a:t>
            </a:r>
            <a:r>
              <a:rPr lang="en-US" sz="2800" dirty="0">
                <a:latin typeface="Times New Roman" panose="02020603050405020304" pitchFamily="18" charset="0"/>
                <a:cs typeface="Times New Roman" panose="02020603050405020304" pitchFamily="18" charset="0"/>
                <a:sym typeface="+mn-ea"/>
              </a:rPr>
              <a:t> Lightweight web application that enables users to browse, book, and manage tickets for internal department events with real-time updates and secure access. </a:t>
            </a:r>
            <a:endParaRPr lang="en-US" sz="28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800" b="1" dirty="0">
                <a:latin typeface="Times New Roman" panose="02020603050405020304" pitchFamily="18" charset="0"/>
                <a:cs typeface="Times New Roman" panose="02020603050405020304" pitchFamily="18" charset="0"/>
                <a:sym typeface="+mn-ea"/>
              </a:rPr>
              <a:t>Automation:</a:t>
            </a:r>
            <a:r>
              <a:rPr lang="en-US" sz="2800" dirty="0">
                <a:latin typeface="Times New Roman" panose="02020603050405020304" pitchFamily="18" charset="0"/>
                <a:cs typeface="Times New Roman" panose="02020603050405020304" pitchFamily="18" charset="0"/>
                <a:sym typeface="+mn-ea"/>
              </a:rPr>
              <a:t> Automated event listing, ticket booking, and seat allocation reduce manual registration effort and improve event management efficiency. </a:t>
            </a:r>
            <a:endParaRPr lang="en-US" sz="28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800" b="1" dirty="0">
                <a:latin typeface="Times New Roman" panose="02020603050405020304" pitchFamily="18" charset="0"/>
                <a:cs typeface="Times New Roman" panose="02020603050405020304" pitchFamily="18" charset="0"/>
                <a:sym typeface="+mn-ea"/>
              </a:rPr>
              <a:t>Real-Time Updates:</a:t>
            </a:r>
            <a:r>
              <a:rPr lang="en-US" sz="2800" dirty="0">
                <a:latin typeface="Times New Roman" panose="02020603050405020304" pitchFamily="18" charset="0"/>
                <a:cs typeface="Times New Roman" panose="02020603050405020304" pitchFamily="18" charset="0"/>
                <a:sym typeface="+mn-ea"/>
              </a:rPr>
              <a:t> Instant updates on event availability, booking status, and seat capacity help users make quick decisions. </a:t>
            </a:r>
            <a:endParaRPr lang="en-US" sz="28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800" b="1" dirty="0">
                <a:latin typeface="Times New Roman" panose="02020603050405020304" pitchFamily="18" charset="0"/>
                <a:cs typeface="Times New Roman" panose="02020603050405020304" pitchFamily="18" charset="0"/>
                <a:sym typeface="+mn-ea"/>
              </a:rPr>
              <a:t>Secure Access:</a:t>
            </a:r>
            <a:r>
              <a:rPr lang="en-US" sz="2800" dirty="0">
                <a:latin typeface="Times New Roman" panose="02020603050405020304" pitchFamily="18" charset="0"/>
                <a:cs typeface="Times New Roman" panose="02020603050405020304" pitchFamily="18" charset="0"/>
                <a:sym typeface="+mn-ea"/>
              </a:rPr>
              <a:t> User authentication and session management ensure that only authorized users can access booking details and personal information. </a:t>
            </a:r>
            <a:endParaRPr lang="en-US" sz="28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800" b="1" dirty="0">
                <a:latin typeface="Times New Roman" panose="02020603050405020304" pitchFamily="18" charset="0"/>
                <a:cs typeface="Times New Roman" panose="02020603050405020304" pitchFamily="18" charset="0"/>
                <a:sym typeface="+mn-ea"/>
              </a:rPr>
              <a:t>Data Persistence:</a:t>
            </a:r>
            <a:r>
              <a:rPr lang="en-US" sz="2800" dirty="0">
                <a:latin typeface="Times New Roman" panose="02020603050405020304" pitchFamily="18" charset="0"/>
                <a:cs typeface="Times New Roman" panose="02020603050405020304" pitchFamily="18" charset="0"/>
                <a:sym typeface="+mn-ea"/>
              </a:rPr>
              <a:t> Event and booking data are securely stored in databases, ensuring consistency across sessions and devices. </a:t>
            </a:r>
            <a:endParaRPr lang="en-US" sz="28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800" b="1" dirty="0">
                <a:latin typeface="Times New Roman" panose="02020603050405020304" pitchFamily="18" charset="0"/>
                <a:cs typeface="Times New Roman" panose="02020603050405020304" pitchFamily="18" charset="0"/>
                <a:sym typeface="+mn-ea"/>
              </a:rPr>
              <a:t>Collaboration:</a:t>
            </a:r>
            <a:r>
              <a:rPr lang="en-US" sz="2800" dirty="0">
                <a:latin typeface="Times New Roman" panose="02020603050405020304" pitchFamily="18" charset="0"/>
                <a:cs typeface="Times New Roman" panose="02020603050405020304" pitchFamily="18" charset="0"/>
                <a:sym typeface="+mn-ea"/>
              </a:rPr>
              <a:t> Enables organizers and participants to interact efficiently, with admins managing events and users accessing bookings seamlessly. </a:t>
            </a:r>
            <a:endParaRPr lang="en-US" sz="28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800" b="1" dirty="0">
                <a:latin typeface="Times New Roman" panose="02020603050405020304" pitchFamily="18" charset="0"/>
                <a:cs typeface="Times New Roman" panose="02020603050405020304" pitchFamily="18" charset="0"/>
                <a:sym typeface="+mn-ea"/>
              </a:rPr>
              <a:t>Event Analytics:</a:t>
            </a:r>
            <a:r>
              <a:rPr lang="en-US" sz="2800" dirty="0">
                <a:latin typeface="Times New Roman" panose="02020603050405020304" pitchFamily="18" charset="0"/>
                <a:cs typeface="Times New Roman" panose="02020603050405020304" pitchFamily="18" charset="0"/>
                <a:sym typeface="+mn-ea"/>
              </a:rPr>
              <a:t> Dashboard for organizers to track registrations, monitor attendance, and analyze event participation trends. </a:t>
            </a:r>
            <a:endParaRPr lang="en-US" sz="2800"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US" sz="2800" b="1" dirty="0">
                <a:latin typeface="Times New Roman" panose="02020603050405020304" pitchFamily="18" charset="0"/>
                <a:cs typeface="Times New Roman" panose="02020603050405020304" pitchFamily="18" charset="0"/>
                <a:sym typeface="+mn-ea"/>
              </a:rPr>
              <a:t>Advantages over current systems:</a:t>
            </a:r>
            <a:r>
              <a:rPr lang="en-US" sz="2800" dirty="0">
                <a:latin typeface="Times New Roman" panose="02020603050405020304" pitchFamily="18" charset="0"/>
                <a:cs typeface="Times New Roman" panose="02020603050405020304" pitchFamily="18" charset="0"/>
                <a:sym typeface="+mn-ea"/>
              </a:rPr>
              <a:t> Faster booking process, reduced manual work, real-time updates, secure data handling, improved event management, and a responsive web-based solution</a:t>
            </a:r>
            <a:r>
              <a:rPr lang="en-US" sz="2800" dirty="0">
                <a:sym typeface="+mn-ea"/>
              </a:rPr>
              <a:t>. </a:t>
            </a:r>
            <a:endParaRPr lang="en-US" sz="2800" dirty="0"/>
          </a:p>
          <a:p>
            <a:pPr marL="457200" indent="-457200">
              <a:buFontTx/>
              <a:buChar char="-"/>
            </a:pPr>
            <a:endParaRPr lang="en-IN" sz="2800" dirty="0">
              <a:latin typeface="Times New Roman" panose="02020603050405020304" pitchFamily="18" charset="0"/>
              <a:cs typeface="Times New Roman" panose="02020603050405020304" pitchFamily="18" charset="0"/>
            </a:endParaRPr>
          </a:p>
          <a:p>
            <a:pPr lvl="1" indent="0">
              <a:buFont typeface="Arial" panose="020B0604020202020204" pitchFamily="34" charset="0"/>
              <a:buNone/>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TextBox 45"/>
          <p:cNvSpPr txBox="1"/>
          <p:nvPr/>
        </p:nvSpPr>
        <p:spPr>
          <a:xfrm>
            <a:off x="25879" y="400481"/>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grpSp>
        <p:nvGrpSpPr>
          <p:cNvPr id="2" name="Group 37"/>
          <p:cNvGrpSpPr/>
          <p:nvPr/>
        </p:nvGrpSpPr>
        <p:grpSpPr>
          <a:xfrm>
            <a:off x="14020800" y="-8142801"/>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2" name="TextBox 41"/>
          <p:cNvSpPr txBox="1"/>
          <p:nvPr/>
        </p:nvSpPr>
        <p:spPr>
          <a:xfrm>
            <a:off x="0" y="486639"/>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p:cNvSpPr txBox="1"/>
          <p:nvPr/>
        </p:nvSpPr>
        <p:spPr>
          <a:xfrm>
            <a:off x="1511300" y="3618865"/>
            <a:ext cx="15781020" cy="6618605"/>
          </a:xfrm>
          <a:prstGeom prst="rect">
            <a:avLst/>
          </a:prstGeom>
          <a:noFill/>
        </p:spPr>
        <p:txBody>
          <a:bodyPr wrap="square" rtlCol="0">
            <a:noAutofit/>
          </a:bodyPr>
          <a:lstStyle/>
          <a:p>
            <a:pPr indent="0">
              <a:buFontTx/>
              <a:buNone/>
            </a:pPr>
            <a:r>
              <a:rPr lang="en-US" sz="2400" b="1" dirty="0">
                <a:latin typeface="Times New Roman" panose="02020603050405020304" pitchFamily="18" charset="0"/>
                <a:cs typeface="Times New Roman" panose="02020603050405020304" pitchFamily="18" charset="0"/>
                <a:sym typeface="+mn-ea"/>
              </a:rPr>
              <a:t>Input :</a:t>
            </a:r>
            <a:endParaRPr lang="en-US" sz="2400" b="1" dirty="0">
              <a:latin typeface="Times New Roman" panose="02020603050405020304" pitchFamily="18" charset="0"/>
              <a:cs typeface="Times New Roman" panose="02020603050405020304" pitchFamily="18" charset="0"/>
            </a:endParaRPr>
          </a:p>
          <a:p>
            <a:pPr indent="0">
              <a:buFontTx/>
              <a:buNone/>
            </a:pPr>
            <a:r>
              <a:rPr lang="en-US" sz="2400" dirty="0">
                <a:latin typeface="Times New Roman" panose="02020603050405020304" pitchFamily="18" charset="0"/>
                <a:cs typeface="Times New Roman" panose="02020603050405020304" pitchFamily="18" charset="0"/>
                <a:sym typeface="+mn-ea"/>
              </a:rPr>
              <a:t>Users (students, participants, event organizers) interact with the system through the React-based UI:</a:t>
            </a:r>
            <a:endParaRPr lang="en-US" sz="2400" dirty="0">
              <a:latin typeface="Times New Roman" panose="02020603050405020304" pitchFamily="18" charset="0"/>
              <a:cs typeface="Times New Roman" panose="02020603050405020304" pitchFamily="18" charset="0"/>
            </a:endParaRPr>
          </a:p>
          <a:p>
            <a:pPr indent="0">
              <a:buFontTx/>
              <a:buNone/>
            </a:pPr>
            <a:r>
              <a:rPr lang="en-US" sz="2400" dirty="0">
                <a:latin typeface="Times New Roman" panose="02020603050405020304" pitchFamily="18" charset="0"/>
                <a:cs typeface="Times New Roman" panose="02020603050405020304" pitchFamily="18" charset="0"/>
                <a:sym typeface="+mn-ea"/>
              </a:rPr>
              <a:t>Enter personal details (name, email) ,Select event, date, time, and location ,Choose number of tickets ,Submit booking request </a:t>
            </a:r>
            <a:endParaRPr lang="en-US" sz="2400" dirty="0">
              <a:latin typeface="Times New Roman" panose="02020603050405020304" pitchFamily="18" charset="0"/>
              <a:cs typeface="Times New Roman" panose="02020603050405020304" pitchFamily="18" charset="0"/>
            </a:endParaRPr>
          </a:p>
          <a:p>
            <a:pPr indent="0">
              <a:buFontTx/>
              <a:buNone/>
            </a:pPr>
            <a:r>
              <a:rPr lang="en-US" sz="2400" dirty="0">
                <a:latin typeface="Times New Roman" panose="02020603050405020304" pitchFamily="18" charset="0"/>
                <a:cs typeface="Times New Roman" panose="02020603050405020304" pitchFamily="18" charset="0"/>
                <a:sym typeface="+mn-ea"/>
              </a:rPr>
              <a:t>View booking history and download QR-based tickets </a:t>
            </a:r>
            <a:endParaRPr lang="en-US" sz="2400" dirty="0">
              <a:latin typeface="Times New Roman" panose="02020603050405020304" pitchFamily="18" charset="0"/>
              <a:cs typeface="Times New Roman" panose="02020603050405020304" pitchFamily="18" charset="0"/>
            </a:endParaRPr>
          </a:p>
          <a:p>
            <a:pPr indent="0">
              <a:buFontTx/>
              <a:buNone/>
            </a:pPr>
            <a:r>
              <a:rPr lang="en-US" sz="2400" b="1" dirty="0">
                <a:latin typeface="Times New Roman" panose="02020603050405020304" pitchFamily="18" charset="0"/>
                <a:cs typeface="Times New Roman" panose="02020603050405020304" pitchFamily="18" charset="0"/>
                <a:sym typeface="+mn-ea"/>
              </a:rPr>
              <a:t>Processing :</a:t>
            </a:r>
            <a:endParaRPr lang="en-US" sz="2400" b="1" dirty="0">
              <a:latin typeface="Times New Roman" panose="02020603050405020304" pitchFamily="18" charset="0"/>
              <a:cs typeface="Times New Roman" panose="02020603050405020304" pitchFamily="18" charset="0"/>
            </a:endParaRPr>
          </a:p>
          <a:p>
            <a:pPr indent="0">
              <a:buFontTx/>
              <a:buNone/>
            </a:pPr>
            <a:r>
              <a:rPr lang="en-US" sz="2400" dirty="0">
                <a:latin typeface="Times New Roman" panose="02020603050405020304" pitchFamily="18" charset="0"/>
                <a:cs typeface="Times New Roman" panose="02020603050405020304" pitchFamily="18" charset="0"/>
                <a:sym typeface="+mn-ea"/>
              </a:rPr>
              <a:t>Server-side logic (or client-side logic in your current version) handles:</a:t>
            </a:r>
            <a:endParaRPr lang="en-US" sz="2400" dirty="0">
              <a:latin typeface="Times New Roman" panose="02020603050405020304" pitchFamily="18" charset="0"/>
              <a:cs typeface="Times New Roman" panose="02020603050405020304" pitchFamily="18" charset="0"/>
            </a:endParaRPr>
          </a:p>
          <a:p>
            <a:pPr indent="0">
              <a:buFontTx/>
              <a:buNone/>
            </a:pPr>
            <a:r>
              <a:rPr lang="en-US" sz="2400" dirty="0">
                <a:latin typeface="Times New Roman" panose="02020603050405020304" pitchFamily="18" charset="0"/>
                <a:cs typeface="Times New Roman" panose="02020603050405020304" pitchFamily="18" charset="0"/>
                <a:sym typeface="+mn-ea"/>
              </a:rPr>
              <a:t>Input validation (email, ticket count, required fields) ,Ticket availability check, Booking creation and updates, QR code generation for each booking ,Session handling / local storage management ,API request &amp; response handling (if backend is used).</a:t>
            </a:r>
            <a:endParaRPr lang="en-US" sz="2400" dirty="0">
              <a:latin typeface="Times New Roman" panose="02020603050405020304" pitchFamily="18" charset="0"/>
              <a:cs typeface="Times New Roman" panose="02020603050405020304" pitchFamily="18" charset="0"/>
            </a:endParaRPr>
          </a:p>
          <a:p>
            <a:pPr indent="0">
              <a:buFontTx/>
              <a:buNone/>
            </a:pPr>
            <a:r>
              <a:rPr lang="en-US" sz="2400" b="1" dirty="0">
                <a:latin typeface="Times New Roman" panose="02020603050405020304" pitchFamily="18" charset="0"/>
                <a:cs typeface="Times New Roman" panose="02020603050405020304" pitchFamily="18" charset="0"/>
                <a:sym typeface="+mn-ea"/>
              </a:rPr>
              <a:t>Database :</a:t>
            </a:r>
            <a:endParaRPr lang="en-US" sz="2400" b="1" dirty="0">
              <a:latin typeface="Times New Roman" panose="02020603050405020304" pitchFamily="18" charset="0"/>
              <a:cs typeface="Times New Roman" panose="02020603050405020304" pitchFamily="18" charset="0"/>
            </a:endParaRPr>
          </a:p>
          <a:p>
            <a:pPr indent="0">
              <a:buFontTx/>
              <a:buNone/>
            </a:pPr>
            <a:r>
              <a:rPr lang="en-US" sz="2400" dirty="0">
                <a:latin typeface="Times New Roman" panose="02020603050405020304" pitchFamily="18" charset="0"/>
                <a:cs typeface="Times New Roman" panose="02020603050405020304" pitchFamily="18" charset="0"/>
                <a:sym typeface="+mn-ea"/>
              </a:rPr>
              <a:t>The system stores and manages data such as:</a:t>
            </a:r>
            <a:endParaRPr lang="en-US" sz="2400" dirty="0">
              <a:latin typeface="Times New Roman" panose="02020603050405020304" pitchFamily="18" charset="0"/>
              <a:cs typeface="Times New Roman" panose="02020603050405020304" pitchFamily="18" charset="0"/>
            </a:endParaRPr>
          </a:p>
          <a:p>
            <a:pPr indent="0">
              <a:buFontTx/>
              <a:buNone/>
            </a:pPr>
            <a:r>
              <a:rPr lang="en-US" sz="2400" dirty="0">
                <a:latin typeface="Times New Roman" panose="02020603050405020304" pitchFamily="18" charset="0"/>
                <a:cs typeface="Times New Roman" panose="02020603050405020304" pitchFamily="18" charset="0"/>
                <a:sym typeface="+mn-ea"/>
              </a:rPr>
              <a:t>User details (name, email) ,Booking records (event, date, time, tickets) ,Event and location details ,Ticket availability count </a:t>
            </a:r>
            <a:endParaRPr lang="en-US" sz="2400" dirty="0">
              <a:latin typeface="Times New Roman" panose="02020603050405020304" pitchFamily="18" charset="0"/>
              <a:cs typeface="Times New Roman" panose="02020603050405020304" pitchFamily="18" charset="0"/>
            </a:endParaRPr>
          </a:p>
          <a:p>
            <a:pPr indent="0">
              <a:buFontTx/>
              <a:buNone/>
            </a:pPr>
            <a:r>
              <a:rPr lang="en-US" sz="2400" dirty="0">
                <a:latin typeface="Times New Roman" panose="02020603050405020304" pitchFamily="18" charset="0"/>
                <a:cs typeface="Times New Roman" panose="02020603050405020304" pitchFamily="18" charset="0"/>
                <a:sym typeface="+mn-ea"/>
              </a:rPr>
              <a:t>(Current system: uses </a:t>
            </a:r>
            <a:r>
              <a:rPr lang="en-US" sz="2400" b="1" dirty="0" err="1">
                <a:latin typeface="Times New Roman" panose="02020603050405020304" pitchFamily="18" charset="0"/>
                <a:cs typeface="Times New Roman" panose="02020603050405020304" pitchFamily="18" charset="0"/>
                <a:sym typeface="+mn-ea"/>
              </a:rPr>
              <a:t>localStorage</a:t>
            </a:r>
            <a:r>
              <a:rPr lang="en-US" sz="2400" dirty="0">
                <a:latin typeface="Times New Roman" panose="02020603050405020304" pitchFamily="18" charset="0"/>
                <a:cs typeface="Times New Roman" panose="02020603050405020304" pitchFamily="18" charset="0"/>
                <a:sym typeface="+mn-ea"/>
              </a:rPr>
              <a:t> instead of a real database) </a:t>
            </a:r>
            <a:endParaRPr lang="en-US" sz="2400" dirty="0">
              <a:latin typeface="Times New Roman" panose="02020603050405020304" pitchFamily="18" charset="0"/>
              <a:cs typeface="Times New Roman" panose="02020603050405020304" pitchFamily="18" charset="0"/>
            </a:endParaRPr>
          </a:p>
          <a:p>
            <a:pPr indent="0">
              <a:buFontTx/>
              <a:buNone/>
            </a:pPr>
            <a:r>
              <a:rPr lang="en-US" sz="2400" b="1" dirty="0">
                <a:latin typeface="Times New Roman" panose="02020603050405020304" pitchFamily="18" charset="0"/>
                <a:cs typeface="Times New Roman" panose="02020603050405020304" pitchFamily="18" charset="0"/>
                <a:sym typeface="+mn-ea"/>
              </a:rPr>
              <a:t> Output :</a:t>
            </a:r>
            <a:endParaRPr lang="en-US" sz="2400" b="1" dirty="0">
              <a:latin typeface="Times New Roman" panose="02020603050405020304" pitchFamily="18" charset="0"/>
              <a:cs typeface="Times New Roman" panose="02020603050405020304" pitchFamily="18" charset="0"/>
            </a:endParaRPr>
          </a:p>
          <a:p>
            <a:pPr indent="0">
              <a:buFontTx/>
              <a:buNone/>
            </a:pPr>
            <a:r>
              <a:rPr lang="en-US" sz="2400" dirty="0">
                <a:latin typeface="Times New Roman" panose="02020603050405020304" pitchFamily="18" charset="0"/>
                <a:cs typeface="Times New Roman" panose="02020603050405020304" pitchFamily="18" charset="0"/>
                <a:sym typeface="+mn-ea"/>
              </a:rPr>
              <a:t>The system provides results back to users via UI:</a:t>
            </a:r>
            <a:endParaRPr lang="en-US" sz="2400" dirty="0">
              <a:latin typeface="Times New Roman" panose="02020603050405020304" pitchFamily="18" charset="0"/>
              <a:cs typeface="Times New Roman" panose="02020603050405020304" pitchFamily="18" charset="0"/>
            </a:endParaRPr>
          </a:p>
          <a:p>
            <a:pPr indent="0">
              <a:buFontTx/>
              <a:buNone/>
            </a:pPr>
            <a:r>
              <a:rPr lang="en-US" sz="2400" dirty="0">
                <a:latin typeface="Times New Roman" panose="02020603050405020304" pitchFamily="18" charset="0"/>
                <a:cs typeface="Times New Roman" panose="02020603050405020304" pitchFamily="18" charset="0"/>
                <a:sym typeface="+mn-ea"/>
              </a:rPr>
              <a:t>Booking confirmation message ,Generated QR code for ticket validation ,Updated ticket availability count ,Booking history list </a:t>
            </a:r>
            <a:endParaRPr lang="en-US" sz="2400" dirty="0">
              <a:latin typeface="Times New Roman" panose="02020603050405020304" pitchFamily="18" charset="0"/>
              <a:cs typeface="Times New Roman" panose="02020603050405020304" pitchFamily="18" charset="0"/>
            </a:endParaRPr>
          </a:p>
          <a:p>
            <a:pPr indent="0">
              <a:buFontTx/>
              <a:buNone/>
            </a:pPr>
            <a:r>
              <a:rPr lang="en-US" sz="2400" dirty="0">
                <a:latin typeface="Times New Roman" panose="02020603050405020304" pitchFamily="18" charset="0"/>
                <a:cs typeface="Times New Roman" panose="02020603050405020304" pitchFamily="18" charset="0"/>
                <a:sym typeface="+mn-ea"/>
              </a:rPr>
              <a:t>Option to delete or manage bookings</a:t>
            </a:r>
            <a:endParaRPr lang="en-IN" sz="2400" dirty="0"/>
          </a:p>
        </p:txBody>
      </p:sp>
      <p:pic>
        <p:nvPicPr>
          <p:cNvPr id="3" name="Picture 2"/>
          <p:cNvPicPr>
            <a:picLocks noChangeAspect="1"/>
          </p:cNvPicPr>
          <p:nvPr/>
        </p:nvPicPr>
        <p:blipFill>
          <a:blip r:embed="rId2"/>
          <a:stretch>
            <a:fillRect/>
          </a:stretch>
        </p:blipFill>
        <p:spPr>
          <a:xfrm>
            <a:off x="2332355" y="266700"/>
            <a:ext cx="14126845" cy="331787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p:cNvSpPr txBox="1"/>
          <p:nvPr/>
        </p:nvSpPr>
        <p:spPr>
          <a:xfrm>
            <a:off x="190500" y="315938"/>
            <a:ext cx="158115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p:cNvSpPr txBox="1"/>
          <p:nvPr/>
        </p:nvSpPr>
        <p:spPr>
          <a:xfrm>
            <a:off x="2209800" y="1638300"/>
            <a:ext cx="15082325" cy="1814830"/>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grpSp>
        <p:nvGrpSpPr>
          <p:cNvPr id="2" name="Group 37"/>
          <p:cNvGrpSpPr/>
          <p:nvPr/>
        </p:nvGrpSpPr>
        <p:grpSpPr>
          <a:xfrm>
            <a:off x="14020800" y="-8142801"/>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pic>
        <p:nvPicPr>
          <p:cNvPr id="5" name="Picture 4"/>
          <p:cNvPicPr>
            <a:picLocks noChangeAspect="1"/>
          </p:cNvPicPr>
          <p:nvPr/>
        </p:nvPicPr>
        <p:blipFill>
          <a:blip r:embed="rId2"/>
          <a:stretch>
            <a:fillRect/>
          </a:stretch>
        </p:blipFill>
        <p:spPr>
          <a:xfrm>
            <a:off x="1828800" y="266700"/>
            <a:ext cx="14630400" cy="97536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p:cNvSpPr txBox="1"/>
          <p:nvPr/>
        </p:nvSpPr>
        <p:spPr>
          <a:xfrm>
            <a:off x="152400" y="342900"/>
            <a:ext cx="16764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p:cNvSpPr txBox="1"/>
          <p:nvPr/>
        </p:nvSpPr>
        <p:spPr>
          <a:xfrm>
            <a:off x="2209800" y="1638300"/>
            <a:ext cx="15082325" cy="8278495"/>
          </a:xfrm>
          <a:prstGeom prst="rect">
            <a:avLst/>
          </a:prstGeom>
          <a:noFill/>
        </p:spPr>
        <p:txBody>
          <a:bodyPr wrap="square" rtlCol="0">
            <a:spAutoFit/>
          </a:bodyPr>
          <a:lstStyle/>
          <a:p>
            <a:pPr indent="0">
              <a:buFontTx/>
              <a:buNone/>
            </a:pPr>
            <a:r>
              <a:rPr lang="en-IN" sz="2800" b="1" dirty="0">
                <a:latin typeface="Times New Roman" panose="02020603050405020304" pitchFamily="18" charset="0"/>
                <a:cs typeface="Times New Roman" panose="02020603050405020304" pitchFamily="18" charset="0"/>
                <a:sym typeface="+mn-ea"/>
              </a:rPr>
              <a:t>Frontend :</a:t>
            </a:r>
            <a:endParaRPr lang="en-IN" sz="2800" b="1" dirty="0">
              <a:latin typeface="Times New Roman" panose="02020603050405020304" pitchFamily="18" charset="0"/>
              <a:cs typeface="Times New Roman" panose="02020603050405020304" pitchFamily="18" charset="0"/>
            </a:endParaRPr>
          </a:p>
          <a:p>
            <a:pPr indent="0">
              <a:buFontTx/>
              <a:buNone/>
            </a:pPr>
            <a:r>
              <a:rPr lang="en-IN" sz="2800" dirty="0">
                <a:latin typeface="Times New Roman" panose="02020603050405020304" pitchFamily="18" charset="0"/>
                <a:cs typeface="Times New Roman" panose="02020603050405020304" pitchFamily="18" charset="0"/>
                <a:sym typeface="+mn-ea"/>
              </a:rPr>
              <a:t>HTML, CSS (Tailwind), JavaScript </a:t>
            </a:r>
            <a:endParaRPr lang="en-IN" sz="2800" dirty="0">
              <a:latin typeface="Times New Roman" panose="02020603050405020304" pitchFamily="18" charset="0"/>
              <a:cs typeface="Times New Roman" panose="02020603050405020304" pitchFamily="18" charset="0"/>
            </a:endParaRPr>
          </a:p>
          <a:p>
            <a:pPr indent="0">
              <a:buFontTx/>
              <a:buNone/>
            </a:pPr>
            <a:r>
              <a:rPr lang="en-IN" sz="2800" dirty="0">
                <a:latin typeface="Times New Roman" panose="02020603050405020304" pitchFamily="18" charset="0"/>
                <a:cs typeface="Times New Roman" panose="02020603050405020304" pitchFamily="18" charset="0"/>
                <a:sym typeface="+mn-ea"/>
              </a:rPr>
              <a:t>Responsive UI for booking, availability, history, and QR display </a:t>
            </a:r>
            <a:endParaRPr lang="en-IN" sz="2800" dirty="0">
              <a:latin typeface="Times New Roman" panose="02020603050405020304" pitchFamily="18" charset="0"/>
              <a:cs typeface="Times New Roman" panose="02020603050405020304" pitchFamily="18" charset="0"/>
            </a:endParaRPr>
          </a:p>
          <a:p>
            <a:pPr indent="0">
              <a:buFontTx/>
              <a:buNone/>
            </a:pPr>
            <a:r>
              <a:rPr lang="en-IN" sz="2800" b="1" dirty="0">
                <a:latin typeface="Times New Roman" panose="02020603050405020304" pitchFamily="18" charset="0"/>
                <a:cs typeface="Times New Roman" panose="02020603050405020304" pitchFamily="18" charset="0"/>
                <a:sym typeface="+mn-ea"/>
              </a:rPr>
              <a:t>Backend  :</a:t>
            </a:r>
            <a:endParaRPr lang="en-IN" sz="2800" b="1" dirty="0">
              <a:latin typeface="Times New Roman" panose="02020603050405020304" pitchFamily="18" charset="0"/>
              <a:cs typeface="Times New Roman" panose="02020603050405020304" pitchFamily="18" charset="0"/>
            </a:endParaRPr>
          </a:p>
          <a:p>
            <a:pPr indent="0">
              <a:buFontTx/>
              <a:buNone/>
            </a:pPr>
            <a:r>
              <a:rPr lang="en-IN" sz="2800" dirty="0">
                <a:latin typeface="Times New Roman" panose="02020603050405020304" pitchFamily="18" charset="0"/>
                <a:cs typeface="Times New Roman" panose="02020603050405020304" pitchFamily="18" charset="0"/>
                <a:sym typeface="+mn-ea"/>
              </a:rPr>
              <a:t>Node.js + Express </a:t>
            </a:r>
            <a:endParaRPr lang="en-IN" sz="2800" dirty="0">
              <a:latin typeface="Times New Roman" panose="02020603050405020304" pitchFamily="18" charset="0"/>
              <a:cs typeface="Times New Roman" panose="02020603050405020304" pitchFamily="18" charset="0"/>
            </a:endParaRPr>
          </a:p>
          <a:p>
            <a:pPr indent="0">
              <a:buFontTx/>
              <a:buNone/>
            </a:pPr>
            <a:r>
              <a:rPr lang="en-IN" sz="2800" dirty="0">
                <a:latin typeface="Times New Roman" panose="02020603050405020304" pitchFamily="18" charset="0"/>
                <a:cs typeface="Times New Roman" panose="02020603050405020304" pitchFamily="18" charset="0"/>
                <a:sym typeface="+mn-ea"/>
              </a:rPr>
              <a:t>Handles APIs, validation, booking logic, authentication </a:t>
            </a:r>
            <a:endParaRPr lang="en-IN" sz="2800" dirty="0">
              <a:latin typeface="Times New Roman" panose="02020603050405020304" pitchFamily="18" charset="0"/>
              <a:cs typeface="Times New Roman" panose="02020603050405020304" pitchFamily="18" charset="0"/>
            </a:endParaRPr>
          </a:p>
          <a:p>
            <a:pPr indent="0">
              <a:buFontTx/>
              <a:buNone/>
            </a:pPr>
            <a:r>
              <a:rPr lang="en-IN" sz="2800" b="1" dirty="0">
                <a:latin typeface="Times New Roman" panose="02020603050405020304" pitchFamily="18" charset="0"/>
                <a:cs typeface="Times New Roman" panose="02020603050405020304" pitchFamily="18" charset="0"/>
                <a:sym typeface="+mn-ea"/>
              </a:rPr>
              <a:t>Database :</a:t>
            </a:r>
            <a:endParaRPr lang="en-IN" sz="2800" b="1" dirty="0">
              <a:latin typeface="Times New Roman" panose="02020603050405020304" pitchFamily="18" charset="0"/>
              <a:cs typeface="Times New Roman" panose="02020603050405020304" pitchFamily="18" charset="0"/>
            </a:endParaRPr>
          </a:p>
          <a:p>
            <a:pPr indent="0">
              <a:buFontTx/>
              <a:buNone/>
            </a:pPr>
            <a:r>
              <a:rPr lang="en-IN" sz="2800" dirty="0">
                <a:latin typeface="Times New Roman" panose="02020603050405020304" pitchFamily="18" charset="0"/>
                <a:cs typeface="Times New Roman" panose="02020603050405020304" pitchFamily="18" charset="0"/>
                <a:sym typeface="+mn-ea"/>
              </a:rPr>
              <a:t>Current: </a:t>
            </a:r>
            <a:r>
              <a:rPr lang="en-IN" sz="2800" dirty="0" err="1">
                <a:latin typeface="Times New Roman" panose="02020603050405020304" pitchFamily="18" charset="0"/>
                <a:cs typeface="Times New Roman" panose="02020603050405020304" pitchFamily="18" charset="0"/>
                <a:sym typeface="+mn-ea"/>
              </a:rPr>
              <a:t>localStorage</a:t>
            </a:r>
            <a:r>
              <a:rPr lang="en-IN" sz="2800" dirty="0">
                <a:latin typeface="Times New Roman" panose="02020603050405020304" pitchFamily="18" charset="0"/>
                <a:cs typeface="Times New Roman" panose="02020603050405020304" pitchFamily="18" charset="0"/>
                <a:sym typeface="+mn-ea"/>
              </a:rPr>
              <a:t> </a:t>
            </a:r>
            <a:endParaRPr lang="en-IN" sz="2800" dirty="0">
              <a:latin typeface="Times New Roman" panose="02020603050405020304" pitchFamily="18" charset="0"/>
              <a:cs typeface="Times New Roman" panose="02020603050405020304" pitchFamily="18" charset="0"/>
            </a:endParaRPr>
          </a:p>
          <a:p>
            <a:pPr indent="0">
              <a:buFontTx/>
              <a:buNone/>
            </a:pPr>
            <a:r>
              <a:rPr lang="en-IN" sz="2800" dirty="0">
                <a:latin typeface="Times New Roman" panose="02020603050405020304" pitchFamily="18" charset="0"/>
                <a:cs typeface="Times New Roman" panose="02020603050405020304" pitchFamily="18" charset="0"/>
                <a:sym typeface="+mn-ea"/>
              </a:rPr>
              <a:t>Future: MySQL / PostgreSQL / MongoDB </a:t>
            </a:r>
            <a:endParaRPr lang="en-IN" sz="2800" dirty="0">
              <a:latin typeface="Times New Roman" panose="02020603050405020304" pitchFamily="18" charset="0"/>
              <a:cs typeface="Times New Roman" panose="02020603050405020304" pitchFamily="18" charset="0"/>
            </a:endParaRPr>
          </a:p>
          <a:p>
            <a:pPr indent="0">
              <a:buFontTx/>
              <a:buNone/>
            </a:pPr>
            <a:r>
              <a:rPr lang="en-IN" sz="2800" dirty="0">
                <a:latin typeface="Times New Roman" panose="02020603050405020304" pitchFamily="18" charset="0"/>
                <a:cs typeface="Times New Roman" panose="02020603050405020304" pitchFamily="18" charset="0"/>
                <a:sym typeface="+mn-ea"/>
              </a:rPr>
              <a:t>Stores users, bookings, events, tickets </a:t>
            </a:r>
            <a:endParaRPr lang="en-IN" sz="2800" dirty="0">
              <a:latin typeface="Times New Roman" panose="02020603050405020304" pitchFamily="18" charset="0"/>
              <a:cs typeface="Times New Roman" panose="02020603050405020304" pitchFamily="18" charset="0"/>
            </a:endParaRPr>
          </a:p>
          <a:p>
            <a:pPr indent="0">
              <a:buFontTx/>
              <a:buNone/>
            </a:pPr>
            <a:r>
              <a:rPr lang="en-IN" sz="2800" b="1" dirty="0">
                <a:latin typeface="Times New Roman" panose="02020603050405020304" pitchFamily="18" charset="0"/>
                <a:cs typeface="Times New Roman" panose="02020603050405020304" pitchFamily="18" charset="0"/>
                <a:sym typeface="+mn-ea"/>
              </a:rPr>
              <a:t>Tools :</a:t>
            </a:r>
            <a:endParaRPr lang="en-IN" sz="2800" b="1" dirty="0">
              <a:latin typeface="Times New Roman" panose="02020603050405020304" pitchFamily="18" charset="0"/>
              <a:cs typeface="Times New Roman" panose="02020603050405020304" pitchFamily="18" charset="0"/>
            </a:endParaRPr>
          </a:p>
          <a:p>
            <a:pPr indent="0">
              <a:buFontTx/>
              <a:buNone/>
            </a:pPr>
            <a:r>
              <a:rPr lang="en-IN" sz="2800" dirty="0">
                <a:latin typeface="Times New Roman" panose="02020603050405020304" pitchFamily="18" charset="0"/>
                <a:cs typeface="Times New Roman" panose="02020603050405020304" pitchFamily="18" charset="0"/>
                <a:sym typeface="+mn-ea"/>
              </a:rPr>
              <a:t>VS Code, Git, Postman </a:t>
            </a:r>
            <a:endParaRPr lang="en-IN" sz="2800" dirty="0">
              <a:latin typeface="Times New Roman" panose="02020603050405020304" pitchFamily="18" charset="0"/>
              <a:cs typeface="Times New Roman" panose="02020603050405020304" pitchFamily="18" charset="0"/>
            </a:endParaRPr>
          </a:p>
          <a:p>
            <a:pPr indent="0">
              <a:buFontTx/>
              <a:buNone/>
            </a:pPr>
            <a:r>
              <a:rPr lang="en-IN" sz="2800" dirty="0">
                <a:latin typeface="Times New Roman" panose="02020603050405020304" pitchFamily="18" charset="0"/>
                <a:cs typeface="Times New Roman" panose="02020603050405020304" pitchFamily="18" charset="0"/>
                <a:sym typeface="+mn-ea"/>
              </a:rPr>
              <a:t>QRCode.js for ticket generation </a:t>
            </a:r>
            <a:endParaRPr lang="en-IN" sz="2800" dirty="0">
              <a:latin typeface="Times New Roman" panose="02020603050405020304" pitchFamily="18" charset="0"/>
              <a:cs typeface="Times New Roman" panose="02020603050405020304" pitchFamily="18" charset="0"/>
            </a:endParaRPr>
          </a:p>
          <a:p>
            <a:pPr indent="0">
              <a:buFontTx/>
              <a:buNone/>
            </a:pPr>
            <a:r>
              <a:rPr lang="en-IN" sz="2800" b="1" dirty="0">
                <a:latin typeface="Times New Roman" panose="02020603050405020304" pitchFamily="18" charset="0"/>
                <a:cs typeface="Times New Roman" panose="02020603050405020304" pitchFamily="18" charset="0"/>
                <a:sym typeface="+mn-ea"/>
              </a:rPr>
              <a:t>Requirements:</a:t>
            </a:r>
            <a:endParaRPr lang="en-IN" sz="2800" b="1" dirty="0">
              <a:latin typeface="Times New Roman" panose="02020603050405020304" pitchFamily="18" charset="0"/>
              <a:cs typeface="Times New Roman" panose="02020603050405020304" pitchFamily="18" charset="0"/>
            </a:endParaRPr>
          </a:p>
          <a:p>
            <a:pPr indent="0">
              <a:buFontTx/>
              <a:buNone/>
            </a:pPr>
            <a:r>
              <a:rPr lang="en-IN" sz="2800" dirty="0">
                <a:latin typeface="Times New Roman" panose="02020603050405020304" pitchFamily="18" charset="0"/>
                <a:cs typeface="Times New Roman" panose="02020603050405020304" pitchFamily="18" charset="0"/>
                <a:sym typeface="+mn-ea"/>
              </a:rPr>
              <a:t>Browser (Chrome/Edge/Firefox) </a:t>
            </a:r>
            <a:endParaRPr lang="en-IN" sz="2800" dirty="0">
              <a:latin typeface="Times New Roman" panose="02020603050405020304" pitchFamily="18" charset="0"/>
              <a:cs typeface="Times New Roman" panose="02020603050405020304" pitchFamily="18" charset="0"/>
            </a:endParaRPr>
          </a:p>
          <a:p>
            <a:pPr indent="0">
              <a:buFontTx/>
              <a:buNone/>
            </a:pPr>
            <a:r>
              <a:rPr lang="en-IN" sz="2800" dirty="0">
                <a:latin typeface="Times New Roman" panose="02020603050405020304" pitchFamily="18" charset="0"/>
                <a:cs typeface="Times New Roman" panose="02020603050405020304" pitchFamily="18" charset="0"/>
                <a:sym typeface="+mn-ea"/>
              </a:rPr>
              <a:t>Node.js (if backend used) </a:t>
            </a:r>
            <a:endParaRPr lang="en-IN" sz="2800" dirty="0">
              <a:latin typeface="Times New Roman" panose="02020603050405020304" pitchFamily="18" charset="0"/>
              <a:cs typeface="Times New Roman" panose="02020603050405020304" pitchFamily="18" charset="0"/>
            </a:endParaRPr>
          </a:p>
          <a:p>
            <a:pPr indent="0">
              <a:buFontTx/>
              <a:buNone/>
            </a:pPr>
            <a:r>
              <a:rPr lang="en-IN" sz="2800" dirty="0">
                <a:latin typeface="Times New Roman" panose="02020603050405020304" pitchFamily="18" charset="0"/>
                <a:cs typeface="Times New Roman" panose="02020603050405020304" pitchFamily="18" charset="0"/>
                <a:sym typeface="+mn-ea"/>
              </a:rPr>
              <a:t>Minimum: 1GB RAM </a:t>
            </a:r>
            <a:endParaRPr lang="en-IN" sz="2800" dirty="0">
              <a:latin typeface="Times New Roman" panose="02020603050405020304" pitchFamily="18" charset="0"/>
              <a:cs typeface="Times New Roman" panose="02020603050405020304" pitchFamily="18" charset="0"/>
            </a:endParaRPr>
          </a:p>
          <a:p>
            <a:pPr indent="0">
              <a:buFontTx/>
              <a:buNone/>
            </a:pPr>
            <a:endParaRPr lang="en-IN" sz="2800" dirty="0">
              <a:latin typeface="Times New Roman" panose="02020603050405020304" pitchFamily="18" charset="0"/>
              <a:cs typeface="Times New Roman" panose="02020603050405020304" pitchFamily="18" charset="0"/>
            </a:endParaRPr>
          </a:p>
          <a:p>
            <a:pPr indent="0">
              <a:buFontTx/>
              <a:buNone/>
            </a:pPr>
            <a:endParaRPr lang="en-IN" sz="2800" dirty="0">
              <a:latin typeface="Times New Roman" panose="02020603050405020304" pitchFamily="18" charset="0"/>
              <a:cs typeface="Times New Roman" panose="02020603050405020304" pitchFamily="18" charset="0"/>
            </a:endParaRPr>
          </a:p>
        </p:txBody>
      </p:sp>
      <p:grpSp>
        <p:nvGrpSpPr>
          <p:cNvPr id="2" name="Group 37"/>
          <p:cNvGrpSpPr/>
          <p:nvPr/>
        </p:nvGrpSpPr>
        <p:grpSpPr>
          <a:xfrm>
            <a:off x="14401800" y="-2955537"/>
            <a:ext cx="10994424" cy="10994424"/>
            <a:chOff x="0" y="0"/>
            <a:chExt cx="812800" cy="812800"/>
          </a:xfrm>
        </p:grpSpPr>
        <p:sp>
          <p:nvSpPr>
            <p:cNvPr id="3"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4" name="TextBox 39"/>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56972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110615"/>
            <a:ext cx="15082520" cy="10221595"/>
          </a:xfrm>
          <a:prstGeom prst="rect">
            <a:avLst/>
          </a:prstGeom>
          <a:noFill/>
        </p:spPr>
        <p:txBody>
          <a:bodyPr wrap="square" rtlCol="0">
            <a:noAutofit/>
          </a:bodyPr>
          <a:lstStyle/>
          <a:p>
            <a:r>
              <a:rPr lang="en-IN" sz="2400" b="1" dirty="0">
                <a:latin typeface="Times New Roman" panose="02020603050405020304" pitchFamily="18" charset="0"/>
                <a:cs typeface="Times New Roman" panose="02020603050405020304" pitchFamily="18" charset="0"/>
                <a:sym typeface="+mn-ea"/>
              </a:rPr>
              <a:t>Module 1 — User Input</a:t>
            </a:r>
            <a:endParaRPr lang="en-IN" sz="2400" b="1"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sym typeface="+mn-ea"/>
              </a:rPr>
              <a:t>Collect user details (name, email)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sym typeface="+mn-ea"/>
              </a:rPr>
              <a:t>Select event, date, time, location, tickets </a:t>
            </a:r>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sym typeface="+mn-ea"/>
              </a:rPr>
              <a:t>Module 2 — Booking Management</a:t>
            </a:r>
            <a:endParaRPr lang="en-IN" sz="2400" b="1"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sym typeface="+mn-ea"/>
              </a:rPr>
              <a:t>Create and store bookings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sym typeface="+mn-ea"/>
              </a:rPr>
              <a:t>Manage ticket availability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sym typeface="+mn-ea"/>
              </a:rPr>
              <a:t>Update/delete bookings </a:t>
            </a:r>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sym typeface="+mn-ea"/>
              </a:rPr>
              <a:t>Module 3 — Validation &amp; Processing</a:t>
            </a:r>
            <a:endParaRPr lang="en-IN" sz="2400" b="1"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sym typeface="+mn-ea"/>
              </a:rPr>
              <a:t>Validate inputs (email, fields)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sym typeface="+mn-ea"/>
              </a:rPr>
              <a:t>Check ticket limits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sym typeface="+mn-ea"/>
              </a:rPr>
              <a:t>Process booking logic </a:t>
            </a:r>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sym typeface="+mn-ea"/>
              </a:rPr>
              <a:t> Module 4 — QR Code Generation</a:t>
            </a:r>
            <a:endParaRPr lang="en-IN" sz="2400" b="1"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sym typeface="+mn-ea"/>
              </a:rPr>
              <a:t>Generate QR code for each booking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sym typeface="+mn-ea"/>
              </a:rPr>
              <a:t>Used for ticket verification </a:t>
            </a:r>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sym typeface="+mn-ea"/>
              </a:rPr>
              <a:t> Module 5 — Storage Management</a:t>
            </a:r>
            <a:endParaRPr lang="en-IN" sz="2400" b="1"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sym typeface="+mn-ea"/>
              </a:rPr>
              <a:t>Store bookings using </a:t>
            </a:r>
            <a:r>
              <a:rPr lang="en-IN" sz="2400" dirty="0" err="1">
                <a:latin typeface="Times New Roman" panose="02020603050405020304" pitchFamily="18" charset="0"/>
                <a:cs typeface="Times New Roman" panose="02020603050405020304" pitchFamily="18" charset="0"/>
                <a:sym typeface="+mn-ea"/>
              </a:rPr>
              <a:t>localStorage</a:t>
            </a:r>
            <a:r>
              <a:rPr lang="en-IN" sz="2400" dirty="0">
                <a:latin typeface="Times New Roman" panose="02020603050405020304" pitchFamily="18" charset="0"/>
                <a:cs typeface="Times New Roman" panose="02020603050405020304" pitchFamily="18" charset="0"/>
                <a:sym typeface="+mn-ea"/>
              </a:rPr>
              <a:t>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sym typeface="+mn-ea"/>
              </a:rPr>
              <a:t>Maintain ticket count </a:t>
            </a:r>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sym typeface="+mn-ea"/>
              </a:rPr>
              <a:t>Module 6 — History &amp; Management</a:t>
            </a:r>
            <a:endParaRPr lang="en-IN" sz="2400" b="1"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sym typeface="+mn-ea"/>
              </a:rPr>
              <a:t>Display booking history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sym typeface="+mn-ea"/>
              </a:rPr>
              <a:t>Delete individual bookings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sym typeface="+mn-ea"/>
              </a:rPr>
              <a:t>Clear all bookings </a:t>
            </a:r>
            <a:endParaRPr lang="en-IN" sz="2400" dirty="0">
              <a:latin typeface="Times New Roman" panose="02020603050405020304" pitchFamily="18" charset="0"/>
              <a:cs typeface="Times New Roman" panose="02020603050405020304" pitchFamily="18" charset="0"/>
            </a:endParaRPr>
          </a:p>
          <a:p>
            <a:r>
              <a:rPr lang="en-IN" sz="2400" b="1" dirty="0">
                <a:latin typeface="Times New Roman" panose="02020603050405020304" pitchFamily="18" charset="0"/>
                <a:cs typeface="Times New Roman" panose="02020603050405020304" pitchFamily="18" charset="0"/>
                <a:sym typeface="+mn-ea"/>
              </a:rPr>
              <a:t> Module 7 — Output &amp; Confirmation</a:t>
            </a:r>
            <a:endParaRPr lang="en-IN" sz="2400" b="1"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sym typeface="+mn-ea"/>
              </a:rPr>
              <a:t>Show booking confirmation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sym typeface="+mn-ea"/>
              </a:rPr>
              <a:t>Display QR code and details </a:t>
            </a:r>
            <a:endParaRPr lang="en-IN" sz="2400" dirty="0">
              <a:latin typeface="Times New Roman" panose="02020603050405020304" pitchFamily="18" charset="0"/>
              <a:cs typeface="Times New Roman" panose="02020603050405020304" pitchFamily="18" charset="0"/>
            </a:endParaRPr>
          </a:p>
          <a:p>
            <a:r>
              <a:rPr lang="en-IN" sz="2400" dirty="0">
                <a:latin typeface="Times New Roman" panose="02020603050405020304" pitchFamily="18" charset="0"/>
                <a:cs typeface="Times New Roman" panose="02020603050405020304" pitchFamily="18" charset="0"/>
                <a:sym typeface="+mn-ea"/>
              </a:rPr>
              <a:t>Update available tickets in real-time </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2362200" y="1445260"/>
            <a:ext cx="14608810" cy="811784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8(A)</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2621915" y="1649730"/>
            <a:ext cx="13367385" cy="76885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8(B)</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6306799"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cxnSp>
        <p:nvCxnSpPr>
          <p:cNvPr id="5" name="Straight Connector 4"/>
          <p:cNvCxnSpPr/>
          <p:nvPr/>
        </p:nvCxnSpPr>
        <p:spPr>
          <a:xfrm>
            <a:off x="9448800" y="1697977"/>
            <a:ext cx="0" cy="7484123"/>
          </a:xfrm>
          <a:prstGeom prst="line">
            <a:avLst/>
          </a:prstGeom>
        </p:spPr>
        <p:style>
          <a:lnRef idx="1">
            <a:schemeClr val="accent1"/>
          </a:lnRef>
          <a:fillRef idx="0">
            <a:schemeClr val="accent1"/>
          </a:fillRef>
          <a:effectRef idx="0">
            <a:schemeClr val="accent1"/>
          </a:effectRef>
          <a:fontRef idx="minor">
            <a:schemeClr val="tx1"/>
          </a:fontRef>
        </p:style>
      </p:cxnSp>
      <p:pic>
        <p:nvPicPr>
          <p:cNvPr id="3" name="Picture 2"/>
          <p:cNvPicPr>
            <a:picLocks noChangeAspect="1"/>
          </p:cNvPicPr>
          <p:nvPr/>
        </p:nvPicPr>
        <p:blipFill>
          <a:blip r:embed="rId2"/>
          <a:stretch>
            <a:fillRect/>
          </a:stretch>
        </p:blipFill>
        <p:spPr>
          <a:xfrm>
            <a:off x="2213610" y="1814830"/>
            <a:ext cx="15339695" cy="821499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57734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
        <p:nvSpPr>
          <p:cNvPr id="2" name="TextBox 1"/>
          <p:cNvSpPr txBox="1"/>
          <p:nvPr/>
        </p:nvSpPr>
        <p:spPr>
          <a:xfrm>
            <a:off x="2209800" y="1638300"/>
            <a:ext cx="15082325" cy="521970"/>
          </a:xfrm>
          <a:prstGeom prst="rect">
            <a:avLst/>
          </a:prstGeom>
          <a:noFill/>
        </p:spPr>
        <p:txBody>
          <a:bodyPr wrap="square" rtlCol="0">
            <a:spAutoFit/>
          </a:bodyPr>
          <a:lstStyle/>
          <a:p>
            <a:pPr marL="457200" indent="-457200">
              <a:buFontTx/>
              <a:buChar char="-"/>
            </a:pPr>
            <a:endParaRPr lang="en-IN" sz="2800" dirty="0"/>
          </a:p>
        </p:txBody>
      </p:sp>
      <p:pic>
        <p:nvPicPr>
          <p:cNvPr id="3" name="Picture 2"/>
          <p:cNvPicPr>
            <a:picLocks noChangeAspect="1"/>
          </p:cNvPicPr>
          <p:nvPr/>
        </p:nvPicPr>
        <p:blipFill>
          <a:blip r:embed="rId2"/>
          <a:stretch>
            <a:fillRect/>
          </a:stretch>
        </p:blipFill>
        <p:spPr>
          <a:xfrm>
            <a:off x="3140710" y="1904365"/>
            <a:ext cx="13873480" cy="814451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5987543"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p:cNvPicPr>
            <a:picLocks noChangeAspect="1"/>
          </p:cNvPicPr>
          <p:nvPr/>
        </p:nvPicPr>
        <p:blipFill>
          <a:blip r:embed="rId2"/>
          <a:stretch>
            <a:fillRect/>
          </a:stretch>
        </p:blipFill>
        <p:spPr>
          <a:xfrm>
            <a:off x="2428240" y="1534160"/>
            <a:ext cx="14818360" cy="806259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400" b="1" dirty="0">
                  <a:solidFill>
                    <a:srgbClr val="002060"/>
                  </a:solidFill>
                  <a:latin typeface="Gotham"/>
                  <a:ea typeface="Gotham"/>
                  <a:cs typeface="Gotham"/>
                  <a:sym typeface="Gotham"/>
                </a:rPr>
                <a:t>8(C)</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43" name="TextBox 42"/>
          <p:cNvSpPr txBox="1"/>
          <p:nvPr/>
        </p:nvSpPr>
        <p:spPr>
          <a:xfrm>
            <a:off x="152400" y="342900"/>
            <a:ext cx="163068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p:cNvPicPr>
            <a:picLocks noChangeAspect="1"/>
          </p:cNvPicPr>
          <p:nvPr/>
        </p:nvPicPr>
        <p:blipFill>
          <a:blip r:embed="rId2"/>
          <a:stretch>
            <a:fillRect/>
          </a:stretch>
        </p:blipFill>
        <p:spPr>
          <a:xfrm>
            <a:off x="2133600" y="1719580"/>
            <a:ext cx="15112365" cy="776732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5"/>
          <p:cNvGrpSpPr/>
          <p:nvPr/>
        </p:nvGrpSpPr>
        <p:grpSpPr>
          <a:xfrm>
            <a:off x="735588" y="7321525"/>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80"/>
                </a:lnSpc>
                <a:spcBef>
                  <a:spcPct val="0"/>
                </a:spcBef>
              </a:pPr>
              <a:r>
                <a:rPr lang="en-US" sz="2700">
                  <a:solidFill>
                    <a:srgbClr val="FFFEFE"/>
                  </a:solidFill>
                  <a:latin typeface="Gotham"/>
                  <a:ea typeface="Gotham"/>
                  <a:cs typeface="Gotham"/>
                  <a:sym typeface="Gotham"/>
                </a:rPr>
                <a:t>9</a:t>
              </a:r>
            </a:p>
          </p:txBody>
        </p:sp>
      </p:grpSp>
      <p:grpSp>
        <p:nvGrpSpPr>
          <p:cNvPr id="8" name="Group 8"/>
          <p:cNvGrpSpPr/>
          <p:nvPr/>
        </p:nvGrpSpPr>
        <p:grpSpPr>
          <a:xfrm>
            <a:off x="977741" y="3315742"/>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77741" y="1982349"/>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77741" y="3983373"/>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77741" y="264811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77741" y="5318634"/>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p:cNvGrpSpPr/>
          <p:nvPr/>
        </p:nvGrpSpPr>
        <p:grpSpPr>
          <a:xfrm>
            <a:off x="977741" y="465100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p:cNvGrpSpPr/>
          <p:nvPr/>
        </p:nvGrpSpPr>
        <p:grpSpPr>
          <a:xfrm>
            <a:off x="977741" y="5986264"/>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77741" y="6653894"/>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
        <p:nvSpPr>
          <p:cNvPr id="2" name="TextBox 1"/>
          <p:cNvSpPr txBox="1"/>
          <p:nvPr/>
        </p:nvSpPr>
        <p:spPr>
          <a:xfrm>
            <a:off x="190500" y="290493"/>
            <a:ext cx="1612292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 Box 2"/>
          <p:cNvSpPr txBox="1"/>
          <p:nvPr/>
        </p:nvSpPr>
        <p:spPr>
          <a:xfrm>
            <a:off x="2548890" y="1664970"/>
            <a:ext cx="14984095" cy="7699375"/>
          </a:xfrm>
          <a:prstGeom prst="rect">
            <a:avLst/>
          </a:prstGeom>
          <a:noFill/>
        </p:spPr>
        <p:txBody>
          <a:bodyPr wrap="square" rtlCol="0" anchor="t">
            <a:noAutofit/>
          </a:bodyPr>
          <a:lstStyle/>
          <a:p>
            <a:pPr marL="514350" indent="-514350">
              <a:buFont typeface="+mj-lt"/>
              <a:buAutoNum type="arabicPeriod"/>
            </a:pPr>
            <a:r>
              <a:rPr lang="en-US" sz="2800" b="1" dirty="0">
                <a:latin typeface="Times New Roman" panose="02020603050405020304" pitchFamily="18" charset="0"/>
                <a:cs typeface="Times New Roman" panose="02020603050405020304" pitchFamily="18" charset="0"/>
                <a:sym typeface="+mn-ea"/>
              </a:rPr>
              <a:t>Advantages :</a:t>
            </a:r>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sym typeface="+mn-ea"/>
              </a:rPr>
              <a:t>Easy Booking Process:</a:t>
            </a:r>
            <a:r>
              <a:rPr lang="en-US" sz="2800" dirty="0">
                <a:latin typeface="Times New Roman" panose="02020603050405020304" pitchFamily="18" charset="0"/>
                <a:cs typeface="Times New Roman" panose="02020603050405020304" pitchFamily="18" charset="0"/>
                <a:sym typeface="+mn-ea"/>
              </a:rPr>
              <a:t> Simple interface for quick ticket booking </a:t>
            </a: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sym typeface="+mn-ea"/>
              </a:rPr>
              <a:t>Real-Time Availability:</a:t>
            </a:r>
            <a:r>
              <a:rPr lang="en-US" sz="2800" dirty="0">
                <a:latin typeface="Times New Roman" panose="02020603050405020304" pitchFamily="18" charset="0"/>
                <a:cs typeface="Times New Roman" panose="02020603050405020304" pitchFamily="18" charset="0"/>
                <a:sym typeface="+mn-ea"/>
              </a:rPr>
              <a:t> Instantly updates available ticket count </a:t>
            </a: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sym typeface="+mn-ea"/>
              </a:rPr>
              <a:t>QR Code Tickets:</a:t>
            </a:r>
            <a:r>
              <a:rPr lang="en-US" sz="2800" dirty="0">
                <a:latin typeface="Times New Roman" panose="02020603050405020304" pitchFamily="18" charset="0"/>
                <a:cs typeface="Times New Roman" panose="02020603050405020304" pitchFamily="18" charset="0"/>
                <a:sym typeface="+mn-ea"/>
              </a:rPr>
              <a:t> Secure and easy verification </a:t>
            </a: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sym typeface="+mn-ea"/>
              </a:rPr>
              <a:t>Lightweight System:</a:t>
            </a:r>
            <a:r>
              <a:rPr lang="en-US" sz="2800" dirty="0">
                <a:latin typeface="Times New Roman" panose="02020603050405020304" pitchFamily="18" charset="0"/>
                <a:cs typeface="Times New Roman" panose="02020603050405020304" pitchFamily="18" charset="0"/>
                <a:sym typeface="+mn-ea"/>
              </a:rPr>
              <a:t> Runs directly in browser (no installation) </a:t>
            </a: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sym typeface="+mn-ea"/>
              </a:rPr>
              <a:t>Instant Feedback:</a:t>
            </a:r>
            <a:r>
              <a:rPr lang="en-US" sz="2800" dirty="0">
                <a:latin typeface="Times New Roman" panose="02020603050405020304" pitchFamily="18" charset="0"/>
                <a:cs typeface="Times New Roman" panose="02020603050405020304" pitchFamily="18" charset="0"/>
                <a:sym typeface="+mn-ea"/>
              </a:rPr>
              <a:t> Shows confirmation and booking history immediately </a:t>
            </a: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sym typeface="+mn-ea"/>
              </a:rPr>
              <a:t>Low Setup Cost:</a:t>
            </a:r>
            <a:r>
              <a:rPr lang="en-US" sz="2800" dirty="0">
                <a:latin typeface="Times New Roman" panose="02020603050405020304" pitchFamily="18" charset="0"/>
                <a:cs typeface="Times New Roman" panose="02020603050405020304" pitchFamily="18" charset="0"/>
                <a:sym typeface="+mn-ea"/>
              </a:rPr>
              <a:t> No server/database required (uses </a:t>
            </a:r>
            <a:r>
              <a:rPr lang="en-US" sz="2800" dirty="0" err="1">
                <a:latin typeface="Times New Roman" panose="02020603050405020304" pitchFamily="18" charset="0"/>
                <a:cs typeface="Times New Roman" panose="02020603050405020304" pitchFamily="18" charset="0"/>
                <a:sym typeface="+mn-ea"/>
              </a:rPr>
              <a:t>localStorage</a:t>
            </a:r>
            <a:r>
              <a:rPr lang="en-US" sz="2800" dirty="0">
                <a:latin typeface="Times New Roman" panose="02020603050405020304" pitchFamily="18" charset="0"/>
                <a:cs typeface="Times New Roman" panose="02020603050405020304" pitchFamily="18" charset="0"/>
                <a:sym typeface="+mn-ea"/>
              </a:rPr>
              <a:t>) </a:t>
            </a:r>
            <a:endParaRPr lang="en-US" sz="2800" dirty="0">
              <a:latin typeface="Times New Roman" panose="02020603050405020304" pitchFamily="18" charset="0"/>
              <a:cs typeface="Times New Roman" panose="02020603050405020304" pitchFamily="18" charset="0"/>
            </a:endParaRPr>
          </a:p>
          <a:p>
            <a:br>
              <a:rPr lang="en-US" sz="2800" dirty="0">
                <a:latin typeface="Times New Roman" panose="02020603050405020304" pitchFamily="18" charset="0"/>
                <a:cs typeface="Times New Roman" panose="02020603050405020304" pitchFamily="18" charset="0"/>
                <a:sym typeface="+mn-ea"/>
              </a:rPr>
            </a:b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sym typeface="+mn-ea"/>
              </a:rPr>
              <a:t>2. Limitations :</a:t>
            </a:r>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sym typeface="+mn-ea"/>
              </a:rPr>
              <a:t>No Backend Integration:</a:t>
            </a:r>
            <a:r>
              <a:rPr lang="en-US" sz="2800" dirty="0">
                <a:latin typeface="Times New Roman" panose="02020603050405020304" pitchFamily="18" charset="0"/>
                <a:cs typeface="Times New Roman" panose="02020603050405020304" pitchFamily="18" charset="0"/>
                <a:sym typeface="+mn-ea"/>
              </a:rPr>
              <a:t> Data stored only in browser (not shared across devices) </a:t>
            </a: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sym typeface="+mn-ea"/>
              </a:rPr>
              <a:t>Limited Scalability:</a:t>
            </a:r>
            <a:r>
              <a:rPr lang="en-US" sz="2800" dirty="0">
                <a:latin typeface="Times New Roman" panose="02020603050405020304" pitchFamily="18" charset="0"/>
                <a:cs typeface="Times New Roman" panose="02020603050405020304" pitchFamily="18" charset="0"/>
                <a:sym typeface="+mn-ea"/>
              </a:rPr>
              <a:t> Not suitable for large-scale or multi-user systems </a:t>
            </a: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sym typeface="+mn-ea"/>
              </a:rPr>
              <a:t>Basic Security:</a:t>
            </a:r>
            <a:r>
              <a:rPr lang="en-US" sz="2800" dirty="0">
                <a:latin typeface="Times New Roman" panose="02020603050405020304" pitchFamily="18" charset="0"/>
                <a:cs typeface="Times New Roman" panose="02020603050405020304" pitchFamily="18" charset="0"/>
                <a:sym typeface="+mn-ea"/>
              </a:rPr>
              <a:t> No authentication or advanced protection </a:t>
            </a: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sym typeface="+mn-ea"/>
              </a:rPr>
              <a:t>No Real-Time Sync:</a:t>
            </a:r>
            <a:r>
              <a:rPr lang="en-US" sz="2800" dirty="0">
                <a:latin typeface="Times New Roman" panose="02020603050405020304" pitchFamily="18" charset="0"/>
                <a:cs typeface="Times New Roman" panose="02020603050405020304" pitchFamily="18" charset="0"/>
                <a:sym typeface="+mn-ea"/>
              </a:rPr>
              <a:t> Multiple users cannot book simultaneously </a:t>
            </a: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sym typeface="+mn-ea"/>
              </a:rPr>
              <a:t>Data Loss Risk:</a:t>
            </a:r>
            <a:r>
              <a:rPr lang="en-US" sz="2800" dirty="0">
                <a:latin typeface="Times New Roman" panose="02020603050405020304" pitchFamily="18" charset="0"/>
                <a:cs typeface="Times New Roman" panose="02020603050405020304" pitchFamily="18" charset="0"/>
                <a:sym typeface="+mn-ea"/>
              </a:rPr>
              <a:t> Clearing browser storage removes all bookings </a:t>
            </a:r>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sym typeface="+mn-ea"/>
              </a:rPr>
              <a:t>UI Enhancements Needed:</a:t>
            </a:r>
            <a:r>
              <a:rPr lang="en-US" sz="2800" dirty="0">
                <a:latin typeface="Times New Roman" panose="02020603050405020304" pitchFamily="18" charset="0"/>
                <a:cs typeface="Times New Roman" panose="02020603050405020304" pitchFamily="18" charset="0"/>
                <a:sym typeface="+mn-ea"/>
              </a:rPr>
              <a:t> Can be improved for better design and responsiveness </a:t>
            </a:r>
            <a:endParaRPr lang="en-US" altLang="en-US" sz="2800" dirty="0">
              <a:latin typeface="Times New Roman" panose="02020603050405020304" pitchFamily="18" charset="0"/>
              <a:cs typeface="Times New Roman" panose="02020603050405020304" pitchFamily="18" charset="0"/>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50"/>
              </a:lnSpc>
            </a:pPr>
            <a:r>
              <a:rPr lang="en-US" sz="11155" b="1" i="1" dirty="0">
                <a:solidFill>
                  <a:srgbClr val="191919"/>
                </a:solidFill>
                <a:latin typeface="Gotham Bold Italics" panose="02000000000000000000"/>
                <a:ea typeface="Gotham Bold Italics" panose="02000000000000000000"/>
                <a:cs typeface="Gotham Bold Italics" panose="02000000000000000000"/>
                <a:sym typeface="Gotham Bold Italics" panose="02000000000000000000"/>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60"/>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1464</Words>
  <Application>Microsoft Office PowerPoint</Application>
  <PresentationFormat>Custom</PresentationFormat>
  <Paragraphs>350</Paragraphs>
  <Slides>17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Cambria</vt:lpstr>
      <vt:lpstr>Gotham Bold Italics</vt:lpstr>
      <vt:lpstr>Arial</vt:lpstr>
      <vt:lpstr>Times New Roman</vt:lpstr>
      <vt:lpstr>Bookman Old Style</vt:lpstr>
      <vt:lpstr>Calibri</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venkatasubbarao Rachuri</dc:creator>
  <cp:lastModifiedBy>venkatasubbarao Rachuri</cp:lastModifiedBy>
  <cp:revision>15</cp:revision>
  <dcterms:created xsi:type="dcterms:W3CDTF">2006-08-16T00:00:00Z</dcterms:created>
  <dcterms:modified xsi:type="dcterms:W3CDTF">2026-05-05T16:46:02Z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EC40CD9ADEC94E13B789930E70402892_12</vt:lpwstr>
  </property>
  <property fmtid="{D5CDD505-2E9C-101B-9397-08002B2CF9AE}" pid="3" name="KSOProductBuildVer">
    <vt:lpwstr>2057-12.2.0.23202</vt:lpwstr>
  </property>
</Properties>
</file>