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9"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End-to-End Event Lifecycle &amp; Ticketing Platform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LAMBU SESHASAI– VTU26580 – Reg.No:23UECS0307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Dr.HAFIZUR</a:t>
            </a:r>
            <a:r>
              <a:rPr lang="en-US" sz="3000" dirty="0">
                <a:latin typeface="Cambria" panose="02040503050406030204" pitchFamily="18" charset="0"/>
                <a:ea typeface="Cambria" panose="02040503050406030204" pitchFamily="18" charset="0"/>
              </a:rPr>
              <a:t> RAHMAN - Designation</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a:t>
            </a:r>
            <a:r>
              <a:rPr lang="en-US" sz="2000" b="1" dirty="0"/>
              <a:t>SDG: SDG 9 – Industry,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9140964"/>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r>
              <a:rPr lang="en-US" sz="2800" dirty="0"/>
              <a:t>The increasing number of events such as concerts, seminars, and workshops has made event management more complex, highlighting the limitations of traditional manual systems. These methods often lead to inefficiencies, errors, and lack of proper coordination. This project is important as it introduces a centralized digital platform that simplifies event planning, ticketing, and management processes. In real-world applications, it benefits event organizers, businesses, and participants by saving time and improving accessibility. The system provides an end-to-end solution including event creation, online ticket booking, secure payment integration, and real-time notifications. It ensures transparency, better organization, and user convenience. Overall, the platform addresses modern event management challenges through technology-driven innovation.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3970318"/>
          </a:xfrm>
          <a:prstGeom prst="rect">
            <a:avLst/>
          </a:prstGeom>
          <a:noFill/>
        </p:spPr>
        <p:txBody>
          <a:bodyPr wrap="square" rtlCol="0">
            <a:spAutoFit/>
          </a:bodyPr>
          <a:lstStyle/>
          <a:p>
            <a:pPr marL="457200" indent="-457200">
              <a:buFontTx/>
              <a:buChar char="-"/>
            </a:pPr>
            <a:r>
              <a:rPr lang="en-US" sz="2800" dirty="0"/>
              <a:t>In many event management scenarios, existing systems rely heavily on manual processes for organizing events, selling tickets, and maintaining records. This often results in inefficiencies, data errors, lack of coordination, and poor user experience. Additionally, there is limited transparency in ticket availability and payment handling. These challenges make it difficult for organizers to manage events smoothly and for users to access reliable information. Therefore, there is a need for a centralized, automated, and user-friendly platform. Such a system can improve accuracy, reduce manual effort, and enhance overall efficiency. It should provide seamless event lifecycle management from planning to ticketing and execution. Overall, the problem highlights the necessity for a modern digital solution in event management.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403275" y="3041672"/>
            <a:ext cx="15082325" cy="5262979"/>
          </a:xfrm>
          <a:prstGeom prst="rect">
            <a:avLst/>
          </a:prstGeom>
          <a:noFill/>
        </p:spPr>
        <p:txBody>
          <a:bodyPr wrap="square" rtlCol="0">
            <a:spAutoFit/>
          </a:bodyPr>
          <a:lstStyle/>
          <a:p>
            <a:pPr marL="457200" indent="-457200">
              <a:buFontTx/>
              <a:buChar char="-"/>
            </a:pPr>
            <a:r>
              <a:rPr lang="en-US" sz="2800" dirty="0"/>
              <a:t>1. To design and develop an end-to-end event lifecycle and ticketing platform for efficient event management.</a:t>
            </a:r>
          </a:p>
          <a:p>
            <a:pPr marL="457200" indent="-457200">
              <a:buFontTx/>
              <a:buChar char="-"/>
            </a:pPr>
            <a:r>
              <a:rPr lang="en-US" sz="2800" dirty="0"/>
              <a:t>2. To implement a secure and user-friendly system for online ticket booking, payment processing, and real-time updates.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11726287"/>
          </a:xfrm>
          <a:prstGeom prst="rect">
            <a:avLst/>
          </a:prstGeom>
          <a:noFill/>
        </p:spPr>
        <p:txBody>
          <a:bodyPr wrap="square" rtlCol="0">
            <a:spAutoFit/>
          </a:bodyPr>
          <a:lstStyle/>
          <a:p>
            <a:pPr marL="457200" indent="-457200">
              <a:buFontTx/>
              <a:buChar char="-"/>
            </a:pPr>
            <a:r>
              <a:rPr lang="en-US" sz="2800" dirty="0"/>
              <a:t>1. The proposed solution is an end-to-end event lifecycle and ticketing platform that manages event creation, promotion, ticket booking, and execution in a single system.</a:t>
            </a:r>
          </a:p>
          <a:p>
            <a:pPr marL="457200" indent="-457200">
              <a:buFontTx/>
              <a:buChar char="-"/>
            </a:pPr>
            <a:r>
              <a:rPr lang="en-US" sz="2800" dirty="0"/>
              <a:t>2. It replaces manual processes with automation, reducing errors and improving efficiency in managing events and user data.</a:t>
            </a:r>
          </a:p>
          <a:p>
            <a:pPr marL="457200" indent="-457200">
              <a:buFontTx/>
              <a:buChar char="-"/>
            </a:pPr>
            <a:r>
              <a:rPr lang="en-US" sz="2800" dirty="0"/>
              <a:t>3. The system provides real-time ticket availability and instant booking confirmation, solving issues of overbooking and delays.</a:t>
            </a:r>
          </a:p>
          <a:p>
            <a:pPr marL="457200" indent="-457200">
              <a:buFontTx/>
              <a:buChar char="-"/>
            </a:pPr>
            <a:r>
              <a:rPr lang="en-US" sz="2800" dirty="0"/>
              <a:t>4. Secure online payment integration ensures safe and transparent financial transactions for both organizers and users.</a:t>
            </a:r>
          </a:p>
          <a:p>
            <a:pPr marL="457200" indent="-457200">
              <a:buFontTx/>
              <a:buChar char="-"/>
            </a:pPr>
            <a:r>
              <a:rPr lang="en-US" sz="2800" dirty="0"/>
              <a:t>5. It offers centralized data management, making it easier to track attendees, sales, and event performance.</a:t>
            </a:r>
          </a:p>
          <a:p>
            <a:pPr marL="457200" indent="-457200">
              <a:buFontTx/>
              <a:buChar char="-"/>
            </a:pPr>
            <a:r>
              <a:rPr lang="en-US" sz="2800" dirty="0"/>
              <a:t>6. The platform improves communication through notifications and updates, enhancing user experience.</a:t>
            </a:r>
          </a:p>
          <a:p>
            <a:pPr marL="457200" indent="-457200">
              <a:buFontTx/>
              <a:buChar char="-"/>
            </a:pPr>
            <a:r>
              <a:rPr lang="en-US" sz="2800" dirty="0"/>
              <a:t>7. Compared to existing systems, it is more scalable, user-friendly, and accessible from anywhere.</a:t>
            </a:r>
          </a:p>
          <a:p>
            <a:pPr marL="457200" indent="-457200">
              <a:buFontTx/>
              <a:buChar char="-"/>
            </a:pPr>
            <a:r>
              <a:rPr lang="en-US" sz="2800" dirty="0"/>
              <a:t>8. Overall, it saves time, reduces operational costs, and provides a reliable digital solution for modern event management.</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6491175" y="1741462"/>
            <a:ext cx="10994425" cy="8248412"/>
          </a:xfrm>
          <a:prstGeom prst="rect">
            <a:avLst/>
          </a:prstGeom>
          <a:noFill/>
        </p:spPr>
        <p:txBody>
          <a:bodyPr wrap="square" rtlCol="0">
            <a:spAutoFit/>
          </a:bodyPr>
          <a:lstStyle/>
          <a:p>
            <a:pPr marL="457200" indent="-457200">
              <a:buFontTx/>
              <a:buChar char="-"/>
            </a:pPr>
            <a:r>
              <a:rPr lang="en-US" sz="1000" dirty="0"/>
              <a:t>+-------------------+</a:t>
            </a:r>
          </a:p>
          <a:p>
            <a:pPr marL="457200" indent="-457200">
              <a:buFontTx/>
              <a:buChar char="-"/>
            </a:pPr>
            <a:r>
              <a:rPr lang="en-US" sz="1000" dirty="0"/>
              <a:t>|      Users        |</a:t>
            </a:r>
          </a:p>
          <a:p>
            <a:pPr marL="457200" indent="-457200">
              <a:buFontTx/>
              <a:buChar char="-"/>
            </a:pPr>
            <a:r>
              <a:rPr lang="en-US" sz="1000" dirty="0"/>
              <a:t>| (Attendees/Admin) |</a:t>
            </a:r>
          </a:p>
          <a:p>
            <a:pPr marL="457200" indent="-457200">
              <a:buFontTx/>
              <a:buChar char="-"/>
            </a:pPr>
            <a:r>
              <a:rPr lang="en-US" sz="1000" dirty="0"/>
              <a:t>+---------+---------+</a:t>
            </a:r>
          </a:p>
          <a:p>
            <a:pPr marL="457200" indent="-457200">
              <a:buFontTx/>
              <a:buChar char="-"/>
            </a:pPr>
            <a:r>
              <a:rPr lang="en-US" sz="1000" dirty="0"/>
              <a:t>          |</a:t>
            </a:r>
          </a:p>
          <a:p>
            <a:pPr marL="457200" indent="-457200">
              <a:buFontTx/>
              <a:buChar char="-"/>
            </a:pPr>
            <a:r>
              <a:rPr lang="en-US" sz="1000" dirty="0"/>
              <a:t>          v</a:t>
            </a:r>
          </a:p>
          <a:p>
            <a:pPr marL="457200" indent="-457200">
              <a:buFontTx/>
              <a:buChar char="-"/>
            </a:pPr>
            <a:r>
              <a:rPr lang="en-US" sz="1000" dirty="0"/>
              <a:t>+------------------------+</a:t>
            </a:r>
          </a:p>
          <a:p>
            <a:pPr marL="457200" indent="-457200">
              <a:buFontTx/>
              <a:buChar char="-"/>
            </a:pPr>
            <a:r>
              <a:rPr lang="en-US" sz="1000" dirty="0"/>
              <a:t>|   User Interface (UI)  |</a:t>
            </a:r>
          </a:p>
          <a:p>
            <a:pPr marL="457200" indent="-457200">
              <a:buFontTx/>
              <a:buChar char="-"/>
            </a:pPr>
            <a:r>
              <a:rPr lang="en-US" sz="1000" dirty="0"/>
              <a:t>| (Web / Mobile App)     |</a:t>
            </a:r>
          </a:p>
          <a:p>
            <a:pPr marL="457200" indent="-457200">
              <a:buFontTx/>
              <a:buChar char="-"/>
            </a:pPr>
            <a:r>
              <a:rPr lang="en-US" sz="1000" dirty="0"/>
              <a:t>+---------+--------------+</a:t>
            </a:r>
          </a:p>
          <a:p>
            <a:pPr marL="457200" indent="-457200">
              <a:buFontTx/>
              <a:buChar char="-"/>
            </a:pPr>
            <a:r>
              <a:rPr lang="en-US" sz="1000" dirty="0"/>
              <a:t>          |</a:t>
            </a:r>
          </a:p>
          <a:p>
            <a:pPr marL="457200" indent="-457200">
              <a:buFontTx/>
              <a:buChar char="-"/>
            </a:pPr>
            <a:r>
              <a:rPr lang="en-US" sz="1000" dirty="0"/>
              <a:t>          v</a:t>
            </a:r>
          </a:p>
          <a:p>
            <a:pPr marL="457200" indent="-457200">
              <a:buFontTx/>
              <a:buChar char="-"/>
            </a:pPr>
            <a:r>
              <a:rPr lang="en-US" sz="1000" dirty="0"/>
              <a:t>+------------------------+</a:t>
            </a:r>
          </a:p>
          <a:p>
            <a:pPr marL="457200" indent="-457200">
              <a:buFontTx/>
              <a:buChar char="-"/>
            </a:pPr>
            <a:r>
              <a:rPr lang="en-US" sz="1000" dirty="0"/>
              <a:t>|   Authentication &amp;     |</a:t>
            </a:r>
          </a:p>
          <a:p>
            <a:pPr marL="457200" indent="-457200">
              <a:buFontTx/>
              <a:buChar char="-"/>
            </a:pPr>
            <a:r>
              <a:rPr lang="en-US" sz="1000" dirty="0"/>
              <a:t>|   User Management      |</a:t>
            </a:r>
          </a:p>
          <a:p>
            <a:pPr marL="457200" indent="-457200">
              <a:buFontTx/>
              <a:buChar char="-"/>
            </a:pPr>
            <a:r>
              <a:rPr lang="en-US" sz="1000" dirty="0"/>
              <a:t>+---------+--------------+</a:t>
            </a:r>
          </a:p>
          <a:p>
            <a:pPr marL="457200" indent="-457200">
              <a:buFontTx/>
              <a:buChar char="-"/>
            </a:pPr>
            <a:r>
              <a:rPr lang="en-US" sz="1000" dirty="0"/>
              <a:t>          |</a:t>
            </a:r>
          </a:p>
          <a:p>
            <a:pPr marL="457200" indent="-457200">
              <a:buFontTx/>
              <a:buChar char="-"/>
            </a:pPr>
            <a:r>
              <a:rPr lang="en-US" sz="1000" dirty="0"/>
              <a:t>          v</a:t>
            </a:r>
          </a:p>
          <a:p>
            <a:pPr marL="457200" indent="-457200">
              <a:buFontTx/>
              <a:buChar char="-"/>
            </a:pPr>
            <a:r>
              <a:rPr lang="en-US" sz="1000" dirty="0"/>
              <a:t>+------------------------+</a:t>
            </a:r>
          </a:p>
          <a:p>
            <a:pPr marL="457200" indent="-457200">
              <a:buFontTx/>
              <a:buChar char="-"/>
            </a:pPr>
            <a:r>
              <a:rPr lang="en-US" sz="1000" dirty="0"/>
              <a:t>|   Event Management     |</a:t>
            </a:r>
          </a:p>
          <a:p>
            <a:pPr marL="457200" indent="-457200">
              <a:buFontTx/>
              <a:buChar char="-"/>
            </a:pPr>
            <a:r>
              <a:rPr lang="en-US" sz="1000" dirty="0"/>
              <a:t>| (Create, Update Event) |</a:t>
            </a:r>
          </a:p>
          <a:p>
            <a:pPr marL="457200" indent="-457200">
              <a:buFontTx/>
              <a:buChar char="-"/>
            </a:pPr>
            <a:r>
              <a:rPr lang="en-US" sz="1000" dirty="0"/>
              <a:t>+---------+--------------+</a:t>
            </a:r>
          </a:p>
          <a:p>
            <a:pPr marL="457200" indent="-457200">
              <a:buFontTx/>
              <a:buChar char="-"/>
            </a:pPr>
            <a:r>
              <a:rPr lang="en-US" sz="1000" dirty="0"/>
              <a:t>          |</a:t>
            </a:r>
          </a:p>
          <a:p>
            <a:pPr marL="457200" indent="-457200">
              <a:buFontTx/>
              <a:buChar char="-"/>
            </a:pPr>
            <a:r>
              <a:rPr lang="en-US" sz="1000" dirty="0"/>
              <a:t>          v</a:t>
            </a:r>
          </a:p>
          <a:p>
            <a:pPr marL="457200" indent="-457200">
              <a:buFontTx/>
              <a:buChar char="-"/>
            </a:pPr>
            <a:r>
              <a:rPr lang="en-US" sz="1000" dirty="0"/>
              <a:t>+------------------------+</a:t>
            </a:r>
          </a:p>
          <a:p>
            <a:pPr marL="457200" indent="-457200">
              <a:buFontTx/>
              <a:buChar char="-"/>
            </a:pPr>
            <a:r>
              <a:rPr lang="en-US" sz="1000" dirty="0"/>
              <a:t>|   Ticketing System     |</a:t>
            </a:r>
          </a:p>
          <a:p>
            <a:pPr marL="457200" indent="-457200">
              <a:buFontTx/>
              <a:buChar char="-"/>
            </a:pPr>
            <a:r>
              <a:rPr lang="en-US" sz="1000" dirty="0"/>
              <a:t>| (Booking, Pricing, QR) |</a:t>
            </a:r>
          </a:p>
          <a:p>
            <a:pPr marL="457200" indent="-457200">
              <a:buFontTx/>
              <a:buChar char="-"/>
            </a:pPr>
            <a:r>
              <a:rPr lang="en-US" sz="1000" dirty="0"/>
              <a:t>+---------+--------------+</a:t>
            </a:r>
          </a:p>
          <a:p>
            <a:pPr marL="457200" indent="-457200">
              <a:buFontTx/>
              <a:buChar char="-"/>
            </a:pPr>
            <a:r>
              <a:rPr lang="en-US" sz="1000" dirty="0"/>
              <a:t>          |</a:t>
            </a:r>
          </a:p>
          <a:p>
            <a:pPr marL="457200" indent="-457200">
              <a:buFontTx/>
              <a:buChar char="-"/>
            </a:pPr>
            <a:r>
              <a:rPr lang="en-US" sz="1000" dirty="0"/>
              <a:t>          v</a:t>
            </a:r>
          </a:p>
          <a:p>
            <a:pPr marL="457200" indent="-457200">
              <a:buFontTx/>
              <a:buChar char="-"/>
            </a:pPr>
            <a:r>
              <a:rPr lang="en-US" sz="1000" dirty="0"/>
              <a:t>+------------------------+</a:t>
            </a:r>
          </a:p>
          <a:p>
            <a:pPr marL="457200" indent="-457200">
              <a:buFontTx/>
              <a:buChar char="-"/>
            </a:pPr>
            <a:r>
              <a:rPr lang="en-US" sz="1000" dirty="0"/>
              <a:t>|   Payment Gateway      |</a:t>
            </a:r>
          </a:p>
          <a:p>
            <a:pPr marL="457200" indent="-457200">
              <a:buFontTx/>
              <a:buChar char="-"/>
            </a:pPr>
            <a:r>
              <a:rPr lang="en-US" sz="1000" dirty="0"/>
              <a:t>| (UPI / Card / Wallet)  |</a:t>
            </a:r>
          </a:p>
          <a:p>
            <a:pPr marL="457200" indent="-457200">
              <a:buFontTx/>
              <a:buChar char="-"/>
            </a:pPr>
            <a:r>
              <a:rPr lang="en-US" sz="1000" dirty="0"/>
              <a:t>+---------+--------------+</a:t>
            </a:r>
          </a:p>
          <a:p>
            <a:pPr marL="457200" indent="-457200">
              <a:buFontTx/>
              <a:buChar char="-"/>
            </a:pPr>
            <a:r>
              <a:rPr lang="en-US" sz="1000" dirty="0"/>
              <a:t>          |</a:t>
            </a:r>
          </a:p>
          <a:p>
            <a:pPr marL="457200" indent="-457200">
              <a:buFontTx/>
              <a:buChar char="-"/>
            </a:pPr>
            <a:r>
              <a:rPr lang="en-US" sz="1000" dirty="0"/>
              <a:t>          v</a:t>
            </a:r>
          </a:p>
          <a:p>
            <a:pPr marL="457200" indent="-457200">
              <a:buFontTx/>
              <a:buChar char="-"/>
            </a:pPr>
            <a:r>
              <a:rPr lang="en-US" sz="1000" dirty="0"/>
              <a:t>+------------------------+</a:t>
            </a:r>
          </a:p>
          <a:p>
            <a:pPr marL="457200" indent="-457200">
              <a:buFontTx/>
              <a:buChar char="-"/>
            </a:pPr>
            <a:r>
              <a:rPr lang="en-US" sz="1000" dirty="0"/>
              <a:t>|   Database             |</a:t>
            </a:r>
          </a:p>
          <a:p>
            <a:pPr marL="457200" indent="-457200">
              <a:buFontTx/>
              <a:buChar char="-"/>
            </a:pPr>
            <a:r>
              <a:rPr lang="en-US" sz="1000" dirty="0"/>
              <a:t>| (Users, Events, Tickets|</a:t>
            </a:r>
          </a:p>
          <a:p>
            <a:pPr marL="457200" indent="-457200">
              <a:buFontTx/>
              <a:buChar char="-"/>
            </a:pPr>
            <a:r>
              <a:rPr lang="en-US" sz="1000" dirty="0"/>
              <a:t>|  Transactions)         |</a:t>
            </a:r>
          </a:p>
          <a:p>
            <a:pPr marL="457200" indent="-457200">
              <a:buFontTx/>
              <a:buChar char="-"/>
            </a:pPr>
            <a:r>
              <a:rPr lang="en-US" sz="1000" dirty="0"/>
              <a:t>+---------+--------------+</a:t>
            </a:r>
          </a:p>
          <a:p>
            <a:pPr marL="457200" indent="-457200">
              <a:buFontTx/>
              <a:buChar char="-"/>
            </a:pPr>
            <a:r>
              <a:rPr lang="en-US" sz="1000" dirty="0"/>
              <a:t>          |</a:t>
            </a:r>
          </a:p>
          <a:p>
            <a:pPr marL="457200" indent="-457200">
              <a:buFontTx/>
              <a:buChar char="-"/>
            </a:pPr>
            <a:r>
              <a:rPr lang="en-US" sz="1000" dirty="0"/>
              <a:t>          v</a:t>
            </a:r>
          </a:p>
          <a:p>
            <a:pPr marL="457200" indent="-457200">
              <a:buFontTx/>
              <a:buChar char="-"/>
            </a:pPr>
            <a:r>
              <a:rPr lang="en-US" sz="1000" dirty="0"/>
              <a:t>+------------------------+</a:t>
            </a:r>
          </a:p>
          <a:p>
            <a:pPr marL="457200" indent="-457200">
              <a:buFontTx/>
              <a:buChar char="-"/>
            </a:pPr>
            <a:r>
              <a:rPr lang="en-US" sz="1000" dirty="0"/>
              <a:t>| Notifications System   |</a:t>
            </a:r>
          </a:p>
          <a:p>
            <a:pPr marL="457200" indent="-457200">
              <a:buFontTx/>
              <a:buChar char="-"/>
            </a:pPr>
            <a:r>
              <a:rPr lang="en-US" sz="1000" dirty="0"/>
              <a:t>| (Email / SMS Alerts)   |</a:t>
            </a:r>
          </a:p>
          <a:p>
            <a:pPr marL="457200" indent="-457200">
              <a:buFontTx/>
              <a:buChar char="-"/>
            </a:pPr>
            <a:r>
              <a:rPr lang="en-US" sz="1000" dirty="0"/>
              <a:t>+---------+--------------+</a:t>
            </a:r>
          </a:p>
          <a:p>
            <a:pPr marL="457200" indent="-457200">
              <a:buFontTx/>
              <a:buChar char="-"/>
            </a:pPr>
            <a:r>
              <a:rPr lang="en-US" sz="1000" dirty="0"/>
              <a:t>          |</a:t>
            </a:r>
          </a:p>
          <a:p>
            <a:pPr marL="457200" indent="-457200">
              <a:buFontTx/>
              <a:buChar char="-"/>
            </a:pPr>
            <a:r>
              <a:rPr lang="en-US" sz="1000" dirty="0"/>
              <a:t>          v</a:t>
            </a:r>
          </a:p>
          <a:p>
            <a:pPr marL="457200" indent="-457200">
              <a:buFontTx/>
              <a:buChar char="-"/>
            </a:pPr>
            <a:r>
              <a:rPr lang="en-US" sz="1000" dirty="0"/>
              <a:t>+------------------------+</a:t>
            </a:r>
          </a:p>
          <a:p>
            <a:pPr marL="457200" indent="-457200">
              <a:buFontTx/>
              <a:buChar char="-"/>
            </a:pPr>
            <a:r>
              <a:rPr lang="en-US" sz="1000" dirty="0"/>
              <a:t>| Reporting &amp; Analytics  |</a:t>
            </a:r>
          </a:p>
          <a:p>
            <a:pPr marL="457200" indent="-457200">
              <a:buFontTx/>
              <a:buChar char="-"/>
            </a:pPr>
            <a:r>
              <a:rPr lang="en-US" sz="1000" dirty="0"/>
              <a:t>| (Sales, Attendance)    |</a:t>
            </a:r>
          </a:p>
          <a:p>
            <a:pPr marL="457200" indent="-457200">
              <a:buFontTx/>
              <a:buChar char="-"/>
            </a:pPr>
            <a:r>
              <a:rPr lang="en-US" sz="1000" dirty="0"/>
              <a:t>+------------------------+</a:t>
            </a:r>
            <a:endParaRPr lang="en-IN"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6864620" y="1687185"/>
            <a:ext cx="9448800" cy="10002738"/>
          </a:xfrm>
          <a:prstGeom prst="rect">
            <a:avLst/>
          </a:prstGeom>
          <a:noFill/>
        </p:spPr>
        <p:txBody>
          <a:bodyPr wrap="square" rtlCol="0">
            <a:spAutoFit/>
          </a:bodyPr>
          <a:lstStyle/>
          <a:p>
            <a:r>
              <a:rPr lang="en-US" sz="1400" dirty="0"/>
              <a:t> +----------------------+</a:t>
            </a:r>
          </a:p>
          <a:p>
            <a:r>
              <a:rPr lang="en-US" sz="1400" dirty="0"/>
              <a:t>                |        USER          |</a:t>
            </a:r>
          </a:p>
          <a:p>
            <a:r>
              <a:rPr lang="en-US" sz="1400" dirty="0"/>
              <a:t>                | (Attendee / Host)   |</a:t>
            </a:r>
          </a:p>
          <a:p>
            <a:r>
              <a:rPr lang="en-US" sz="1400" dirty="0"/>
              <a:t>                +----------+-----------+</a:t>
            </a:r>
          </a:p>
          <a:p>
            <a:r>
              <a:rPr lang="en-US" sz="1400" dirty="0"/>
              <a:t>                           |</a:t>
            </a:r>
          </a:p>
          <a:p>
            <a:r>
              <a:rPr lang="en-US" sz="1400" dirty="0"/>
              <a:t>                           v</a:t>
            </a:r>
          </a:p>
          <a:p>
            <a:r>
              <a:rPr lang="en-US" sz="1400" dirty="0"/>
              <a:t>              +--------------------------+</a:t>
            </a:r>
          </a:p>
          <a:p>
            <a:r>
              <a:rPr lang="en-US" sz="1400" dirty="0"/>
              <a:t>              |  Registration / Login    |</a:t>
            </a:r>
          </a:p>
          <a:p>
            <a:r>
              <a:rPr lang="en-US" sz="1400" dirty="0"/>
              <a:t>              +-----------+--------------+</a:t>
            </a:r>
          </a:p>
          <a:p>
            <a:r>
              <a:rPr lang="en-US" sz="1400" dirty="0"/>
              <a:t>                          |</a:t>
            </a:r>
          </a:p>
          <a:p>
            <a:r>
              <a:rPr lang="en-US" sz="1400" dirty="0"/>
              <a:t>                          v</a:t>
            </a:r>
          </a:p>
          <a:p>
            <a:r>
              <a:rPr lang="en-US" sz="1400" dirty="0"/>
              <a:t>              +--------------------------+</a:t>
            </a:r>
          </a:p>
          <a:p>
            <a:r>
              <a:rPr lang="en-US" sz="1400" dirty="0"/>
              <a:t>              |     Event Browsing       |</a:t>
            </a:r>
          </a:p>
          <a:p>
            <a:r>
              <a:rPr lang="en-US" sz="1400" dirty="0"/>
              <a:t>              +-----------+--------------+</a:t>
            </a:r>
          </a:p>
          <a:p>
            <a:r>
              <a:rPr lang="en-US" sz="1400" dirty="0"/>
              <a:t>                          |</a:t>
            </a:r>
          </a:p>
          <a:p>
            <a:r>
              <a:rPr lang="en-US" sz="1400" dirty="0"/>
              <a:t>                          v</a:t>
            </a:r>
          </a:p>
          <a:p>
            <a:r>
              <a:rPr lang="en-US" sz="1400" dirty="0"/>
              <a:t>              +--------------------------+</a:t>
            </a:r>
          </a:p>
          <a:p>
            <a:r>
              <a:rPr lang="en-US" sz="1400" dirty="0"/>
              <a:t>              |     Booking System       |</a:t>
            </a:r>
          </a:p>
          <a:p>
            <a:r>
              <a:rPr lang="en-US" sz="1400" dirty="0"/>
              <a:t>              +-----------+--------------+</a:t>
            </a:r>
          </a:p>
          <a:p>
            <a:r>
              <a:rPr lang="en-US" sz="1400" dirty="0"/>
              <a:t>                          |</a:t>
            </a:r>
          </a:p>
          <a:p>
            <a:r>
              <a:rPr lang="en-US" sz="1400" dirty="0"/>
              <a:t>                          v</a:t>
            </a:r>
          </a:p>
          <a:p>
            <a:r>
              <a:rPr lang="en-US" sz="1400" dirty="0"/>
              <a:t>                +----------------------+</a:t>
            </a:r>
          </a:p>
          <a:p>
            <a:r>
              <a:rPr lang="en-US" sz="1400" dirty="0"/>
              <a:t>                |      DATABASE        |</a:t>
            </a:r>
          </a:p>
          <a:p>
            <a:r>
              <a:rPr lang="en-US" sz="1400" dirty="0"/>
              <a:t>                | (Users, Events,     |</a:t>
            </a:r>
          </a:p>
          <a:p>
            <a:r>
              <a:rPr lang="en-US" sz="1400" dirty="0"/>
              <a:t>                |  Bookings)          |</a:t>
            </a:r>
          </a:p>
          <a:p>
            <a:r>
              <a:rPr lang="en-US" sz="1400" dirty="0"/>
              <a:t>                +----------+-----------+</a:t>
            </a:r>
          </a:p>
          <a:p>
            <a:r>
              <a:rPr lang="en-US" sz="1400" dirty="0"/>
              <a:t>                           ^</a:t>
            </a:r>
          </a:p>
          <a:p>
            <a:r>
              <a:rPr lang="en-US" sz="1400" dirty="0"/>
              <a:t>                           |</a:t>
            </a:r>
          </a:p>
          <a:p>
            <a:r>
              <a:rPr lang="en-US" sz="1400" dirty="0"/>
              <a:t>              +------------+-------------+</a:t>
            </a:r>
          </a:p>
          <a:p>
            <a:r>
              <a:rPr lang="en-US" sz="1400" dirty="0"/>
              <a:t>              |   Event Management       |</a:t>
            </a:r>
          </a:p>
          <a:p>
            <a:r>
              <a:rPr lang="en-US" sz="1400" dirty="0"/>
              <a:t>              +------------+-------------+</a:t>
            </a:r>
          </a:p>
          <a:p>
            <a:r>
              <a:rPr lang="en-US" sz="1400" dirty="0"/>
              <a:t>                           ^</a:t>
            </a:r>
          </a:p>
          <a:p>
            <a:r>
              <a:rPr lang="en-US" sz="1400" dirty="0"/>
              <a:t>                           |</a:t>
            </a:r>
          </a:p>
          <a:p>
            <a:r>
              <a:rPr lang="en-US" sz="1400" dirty="0"/>
              <a:t>                +----------------------+</a:t>
            </a:r>
          </a:p>
          <a:p>
            <a:r>
              <a:rPr lang="en-US" sz="1400" dirty="0"/>
              <a:t>                |        ADMIN         |</a:t>
            </a:r>
          </a:p>
          <a:p>
            <a:r>
              <a:rPr lang="en-US" sz="1400" dirty="0"/>
              <a:t>                +----------------------+</a:t>
            </a:r>
          </a:p>
          <a:p>
            <a:endParaRPr lang="en-US" sz="1400" dirty="0"/>
          </a:p>
          <a:p>
            <a:pPr marL="457200" indent="-457200">
              <a:buFontTx/>
              <a:buChar char="-"/>
            </a:pPr>
            <a:endParaRPr lang="en-US" sz="1400" dirty="0"/>
          </a:p>
          <a:p>
            <a:pPr marL="457200" indent="-457200">
              <a:buFontTx/>
              <a:buChar char="-"/>
            </a:pPr>
            <a:endParaRPr lang="en-US" sz="1400" dirty="0"/>
          </a:p>
          <a:p>
            <a:pPr marL="457200" indent="-457200">
              <a:buFontTx/>
              <a:buChar char="-"/>
            </a:pPr>
            <a:endParaRPr lang="en-US" sz="1400" dirty="0"/>
          </a:p>
          <a:p>
            <a:pPr marL="457200" indent="-457200">
              <a:buFontTx/>
              <a:buChar char="-"/>
            </a:pPr>
            <a:endParaRPr lang="en-US" sz="1400" dirty="0"/>
          </a:p>
          <a:p>
            <a:pPr marL="457200" indent="-457200">
              <a:buFontTx/>
              <a:buChar char="-"/>
            </a:pPr>
            <a:endParaRPr lang="en-US" sz="1400" dirty="0"/>
          </a:p>
          <a:p>
            <a:pPr marL="457200" indent="-457200">
              <a:buFontTx/>
              <a:buChar char="-"/>
            </a:pPr>
            <a:endParaRPr lang="en-US" sz="1400" dirty="0"/>
          </a:p>
          <a:p>
            <a:pPr marL="457200" indent="-457200">
              <a:buFontTx/>
              <a:buChar char="-"/>
            </a:pPr>
            <a:endParaRPr lang="en-US" sz="1400" dirty="0"/>
          </a:p>
          <a:p>
            <a:pPr marL="457200" indent="-457200">
              <a:buFontTx/>
              <a:buChar char="-"/>
            </a:pPr>
            <a:endParaRPr lang="en-US" sz="1400" dirty="0"/>
          </a:p>
          <a:p>
            <a:pPr marL="457200" indent="-457200">
              <a:buFontTx/>
              <a:buChar char="-"/>
            </a:pPr>
            <a:endParaRPr lang="en-IN"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126944"/>
          </a:xfrm>
          <a:prstGeom prst="rect">
            <a:avLst/>
          </a:prstGeom>
          <a:noFill/>
        </p:spPr>
        <p:txBody>
          <a:bodyPr wrap="square" rtlCol="0">
            <a:spAutoFit/>
          </a:bodyPr>
          <a:lstStyle/>
          <a:p>
            <a:pPr marL="457200" indent="-457200">
              <a:buFontTx/>
              <a:buChar char="-"/>
            </a:pPr>
            <a:r>
              <a:rPr lang="en-US" sz="3600" dirty="0"/>
              <a:t>Frontend</a:t>
            </a:r>
            <a:r>
              <a:rPr lang="en-US" sz="2800" dirty="0"/>
              <a:t>:</a:t>
            </a:r>
          </a:p>
          <a:p>
            <a:pPr marL="457200" indent="-457200">
              <a:buFontTx/>
              <a:buChar char="-"/>
            </a:pPr>
            <a:r>
              <a:rPr lang="en-US" sz="2800" dirty="0"/>
              <a:t>HTML, CSS, JavaScript</a:t>
            </a:r>
          </a:p>
          <a:p>
            <a:pPr marL="457200" indent="-457200">
              <a:buFontTx/>
              <a:buChar char="-"/>
            </a:pPr>
            <a:r>
              <a:rPr lang="en-US" sz="2800" dirty="0"/>
              <a:t>React.js / Angular (for dynamic UI)</a:t>
            </a:r>
          </a:p>
          <a:p>
            <a:endParaRPr lang="en-US" sz="2800" dirty="0"/>
          </a:p>
          <a:p>
            <a:pPr marL="457200" indent="-457200">
              <a:buFontTx/>
              <a:buChar char="-"/>
            </a:pPr>
            <a:r>
              <a:rPr lang="en-US" sz="3200" dirty="0"/>
              <a:t>Backend:</a:t>
            </a:r>
          </a:p>
          <a:p>
            <a:pPr marL="457200" indent="-457200">
              <a:buFontTx/>
              <a:buChar char="-"/>
            </a:pPr>
            <a:r>
              <a:rPr lang="en-US" sz="2800" dirty="0"/>
              <a:t>Node.js with Express.js / Django / Spring Boot</a:t>
            </a:r>
          </a:p>
          <a:p>
            <a:endParaRPr lang="en-US" sz="2800" dirty="0"/>
          </a:p>
          <a:p>
            <a:pPr marL="457200" indent="-457200">
              <a:buFontTx/>
              <a:buChar char="-"/>
            </a:pPr>
            <a:r>
              <a:rPr lang="en-US" sz="3600" dirty="0"/>
              <a:t>Database:</a:t>
            </a:r>
          </a:p>
          <a:p>
            <a:pPr marL="457200" indent="-457200">
              <a:buFontTx/>
              <a:buChar char="-"/>
            </a:pPr>
            <a:r>
              <a:rPr lang="en-US" sz="2800" dirty="0"/>
              <a:t>MySQL / PostgreSQL (Relational Database)</a:t>
            </a:r>
          </a:p>
          <a:p>
            <a:pPr marL="457200" indent="-457200">
              <a:buFontTx/>
              <a:buChar char="-"/>
            </a:pPr>
            <a:r>
              <a:rPr lang="en-US" sz="2800" dirty="0"/>
              <a:t>MongoDB (for flexible data storage)</a:t>
            </a:r>
          </a:p>
          <a:p>
            <a:pPr marL="457200" indent="-457200">
              <a:buFontTx/>
              <a:buChar char="-"/>
            </a:pPr>
            <a:endParaRPr lang="en-US" sz="2800" dirty="0"/>
          </a:p>
          <a:p>
            <a:pPr marL="457200" indent="-457200">
              <a:buFontTx/>
              <a:buChar char="-"/>
            </a:pPr>
            <a:r>
              <a:rPr lang="en-US" sz="3200" dirty="0"/>
              <a:t>Tools:</a:t>
            </a:r>
          </a:p>
          <a:p>
            <a:pPr marL="457200" indent="-457200">
              <a:buFontTx/>
              <a:buChar char="-"/>
            </a:pPr>
            <a:r>
              <a:rPr lang="en-US" sz="3200" dirty="0"/>
              <a:t>VS Code / IntelliJ IDEA (Development IDE)</a:t>
            </a:r>
          </a:p>
          <a:p>
            <a:pPr marL="457200" indent="-457200">
              <a:buFontTx/>
              <a:buChar char="-"/>
            </a:pPr>
            <a:endParaRPr lang="en-US" sz="3200" dirty="0"/>
          </a:p>
          <a:p>
            <a:pPr marL="457200" indent="-457200">
              <a:buFontTx/>
              <a:buChar char="-"/>
            </a:pPr>
            <a:r>
              <a:rPr lang="en-US" sz="3200" dirty="0"/>
              <a:t>Hardware/Software Requirements:</a:t>
            </a:r>
          </a:p>
          <a:p>
            <a:pPr marL="457200" indent="-457200">
              <a:buFontTx/>
              <a:buChar char="-"/>
            </a:pPr>
            <a:r>
              <a:rPr lang="en-IN" sz="2000" dirty="0"/>
              <a:t>Database Server (MySQL / MongoDB) </a:t>
            </a:r>
          </a:p>
          <a:p>
            <a:pPr marL="457200" indent="-457200">
              <a:buFontTx/>
              <a:buChar char="-"/>
            </a:pPr>
            <a:r>
              <a:rPr lang="en-US" sz="2000" dirty="0"/>
              <a:t>Operating System: Windows / Linux / macOS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3166950" y="1666385"/>
            <a:ext cx="15082325" cy="7848302"/>
          </a:xfrm>
          <a:prstGeom prst="rect">
            <a:avLst/>
          </a:prstGeom>
          <a:noFill/>
        </p:spPr>
        <p:txBody>
          <a:bodyPr wrap="square" rtlCol="0">
            <a:spAutoFit/>
          </a:bodyPr>
          <a:lstStyle/>
          <a:p>
            <a:endParaRPr lang="en-IN" sz="2800" b="1" dirty="0"/>
          </a:p>
          <a:p>
            <a:endParaRPr lang="en-IN" sz="2800" b="1" dirty="0">
              <a:solidFill>
                <a:srgbClr val="FF0000"/>
              </a:solidFill>
            </a:endParaRPr>
          </a:p>
          <a:p>
            <a:endParaRPr lang="en-IN" sz="2800" b="1" dirty="0"/>
          </a:p>
          <a:p>
            <a:r>
              <a:rPr lang="en-IN" sz="2800" b="1" dirty="0"/>
              <a:t>Module 1: User Management</a:t>
            </a:r>
          </a:p>
          <a:p>
            <a:r>
              <a:rPr lang="en-US" sz="2800" dirty="0"/>
              <a:t>Handles registration, login, and secure authentication.</a:t>
            </a:r>
            <a:r>
              <a:rPr lang="en-IN" sz="2800" dirty="0"/>
              <a:t>.</a:t>
            </a:r>
          </a:p>
          <a:p>
            <a:r>
              <a:rPr lang="en-IN" sz="2800" b="1" dirty="0"/>
              <a:t>Module 2: Core Processing</a:t>
            </a:r>
          </a:p>
          <a:p>
            <a:r>
              <a:rPr lang="en-IN" sz="2800" dirty="0"/>
              <a:t>Implements the main business logic and processes user inputs efficiently.</a:t>
            </a:r>
          </a:p>
          <a:p>
            <a:r>
              <a:rPr lang="en-IN" sz="2800" b="1" dirty="0"/>
              <a:t>Module 3: Database Management</a:t>
            </a:r>
          </a:p>
          <a:p>
            <a:r>
              <a:rPr lang="en-IN" sz="2800" dirty="0"/>
              <a:t>Manages data storage, retrieval, and ensures data integrity.</a:t>
            </a:r>
          </a:p>
          <a:p>
            <a:r>
              <a:rPr lang="en-IN" sz="2800" b="1" dirty="0"/>
              <a:t>Module 4: Reporting &amp; Analytics</a:t>
            </a:r>
          </a:p>
          <a:p>
            <a:r>
              <a:rPr lang="en-IN" sz="2800" dirty="0"/>
              <a:t>Generates reports and visual insights for better decision-making.</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1834835" y="1844705"/>
            <a:ext cx="15082325" cy="5262979"/>
          </a:xfrm>
          <a:prstGeom prst="rect">
            <a:avLst/>
          </a:prstGeom>
          <a:noFill/>
        </p:spPr>
        <p:txBody>
          <a:bodyPr wrap="square" rtlCol="0">
            <a:spAutoFit/>
          </a:bodyPr>
          <a:lstStyle/>
          <a:p>
            <a:r>
              <a:rPr lang="en-US" sz="2800" dirty="0"/>
              <a:t>Home page: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endParaRPr lang="en-IN" sz="2800" dirty="0"/>
          </a:p>
        </p:txBody>
      </p:sp>
      <p:pic>
        <p:nvPicPr>
          <p:cNvPr id="3" name="Picture 2">
            <a:extLst>
              <a:ext uri="{FF2B5EF4-FFF2-40B4-BE49-F238E27FC236}">
                <a16:creationId xmlns:a16="http://schemas.microsoft.com/office/drawing/2014/main" id="{687CAB16-3BC1-5775-8BA4-EF1B522568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5179" y="2648112"/>
            <a:ext cx="10278728" cy="5781785"/>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5693866"/>
          </a:xfrm>
          <a:prstGeom prst="rect">
            <a:avLst/>
          </a:prstGeom>
          <a:noFill/>
        </p:spPr>
        <p:txBody>
          <a:bodyPr wrap="square" rtlCol="0">
            <a:spAutoFit/>
          </a:bodyPr>
          <a:lstStyle/>
          <a:p>
            <a:r>
              <a:rPr lang="en-US" sz="2800" dirty="0"/>
              <a:t>Login page: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CDBC1BC1-E15E-F2C8-2217-70DBBFF5EC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3890" y="2235233"/>
            <a:ext cx="13760000" cy="774000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3970318"/>
          </a:xfrm>
          <a:prstGeom prst="rect">
            <a:avLst/>
          </a:prstGeom>
          <a:noFill/>
        </p:spPr>
        <p:txBody>
          <a:bodyPr wrap="square" rtlCol="0">
            <a:spAutoFit/>
          </a:bodyPr>
          <a:lstStyle/>
          <a:p>
            <a:r>
              <a:rPr lang="en-US" sz="2800" dirty="0"/>
              <a:t>Main module: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6308EC0E-B7A5-F963-A88A-6FDDAAB62C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1967" y="2231390"/>
            <a:ext cx="13171200" cy="740880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r>
              <a:rPr lang="en-US" sz="2800" dirty="0"/>
              <a:t>Output page: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2C1ACCB1-FC51-6E7F-F270-C68524679B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58400" y="2376318"/>
            <a:ext cx="13171200" cy="7408800"/>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B9AB221-7C51-8FEC-9EBC-51329915810C}"/>
              </a:ext>
            </a:extLst>
          </p:cNvPr>
          <p:cNvSpPr txBox="1"/>
          <p:nvPr/>
        </p:nvSpPr>
        <p:spPr>
          <a:xfrm>
            <a:off x="2889686" y="2015465"/>
            <a:ext cx="14045782" cy="5601533"/>
          </a:xfrm>
          <a:prstGeom prst="rect">
            <a:avLst/>
          </a:prstGeom>
          <a:noFill/>
        </p:spPr>
        <p:txBody>
          <a:bodyPr wrap="square">
            <a:spAutoFit/>
          </a:bodyPr>
          <a:lstStyle/>
          <a:p>
            <a:r>
              <a:rPr lang="en-US" dirty="0"/>
              <a:t> </a:t>
            </a:r>
            <a:r>
              <a:rPr lang="en-US" sz="3200" dirty="0"/>
              <a:t>Advantages:</a:t>
            </a:r>
          </a:p>
          <a:p>
            <a:endParaRPr lang="en-US" dirty="0"/>
          </a:p>
          <a:p>
            <a:r>
              <a:rPr lang="en-US" sz="2400" dirty="0"/>
              <a:t>* Simplifies event management from creation to ticket sales in one system</a:t>
            </a:r>
          </a:p>
          <a:p>
            <a:r>
              <a:rPr lang="en-US" sz="2400" dirty="0"/>
              <a:t>* Provides real-time booking and instant ticket confirmation</a:t>
            </a:r>
          </a:p>
          <a:p>
            <a:r>
              <a:rPr lang="en-US" sz="2400" dirty="0"/>
              <a:t>* Reduces manual work and human errors</a:t>
            </a:r>
          </a:p>
          <a:p>
            <a:r>
              <a:rPr lang="en-US" sz="2400" dirty="0"/>
              <a:t>* Offers secure online payment options</a:t>
            </a:r>
          </a:p>
          <a:p>
            <a:r>
              <a:rPr lang="en-US" sz="2400" dirty="0"/>
              <a:t>* Generates reports and analytics for better decision-making</a:t>
            </a:r>
          </a:p>
          <a:p>
            <a:endParaRPr lang="en-US" dirty="0"/>
          </a:p>
          <a:p>
            <a:r>
              <a:rPr lang="en-US" dirty="0"/>
              <a:t>  </a:t>
            </a:r>
            <a:r>
              <a:rPr lang="en-US" sz="3200" dirty="0"/>
              <a:t>Limitations:</a:t>
            </a:r>
          </a:p>
          <a:p>
            <a:endParaRPr lang="en-US" dirty="0"/>
          </a:p>
          <a:p>
            <a:r>
              <a:rPr lang="en-US" sz="2400" dirty="0">
                <a:latin typeface="Times New Roman" panose="02020603050405020304" pitchFamily="18" charset="0"/>
                <a:cs typeface="Times New Roman" panose="02020603050405020304" pitchFamily="18" charset="0"/>
              </a:rPr>
              <a:t>* Requires stable internet connectivity</a:t>
            </a:r>
          </a:p>
          <a:p>
            <a:r>
              <a:rPr lang="en-US" sz="2400" dirty="0">
                <a:latin typeface="Times New Roman" panose="02020603050405020304" pitchFamily="18" charset="0"/>
                <a:cs typeface="Times New Roman" panose="02020603050405020304" pitchFamily="18" charset="0"/>
              </a:rPr>
              <a:t>* Initial development and maintenance cost can be high</a:t>
            </a:r>
          </a:p>
          <a:p>
            <a:r>
              <a:rPr lang="en-US" sz="2400" dirty="0">
                <a:latin typeface="Times New Roman" panose="02020603050405020304" pitchFamily="18" charset="0"/>
                <a:cs typeface="Times New Roman" panose="02020603050405020304" pitchFamily="18" charset="0"/>
              </a:rPr>
              <a:t>* Security risks if data is not properly protected</a:t>
            </a:r>
          </a:p>
          <a:p>
            <a:r>
              <a:rPr lang="en-US" sz="2400" dirty="0">
                <a:latin typeface="Times New Roman" panose="02020603050405020304" pitchFamily="18" charset="0"/>
                <a:cs typeface="Times New Roman" panose="02020603050405020304" pitchFamily="18" charset="0"/>
              </a:rPr>
              <a:t>* System failures may affect ticket booking process</a:t>
            </a:r>
          </a:p>
          <a:p>
            <a:r>
              <a:rPr lang="en-US" sz="2400" dirty="0">
                <a:latin typeface="Times New Roman" panose="02020603050405020304" pitchFamily="18" charset="0"/>
                <a:cs typeface="Times New Roman" panose="02020603050405020304" pitchFamily="18" charset="0"/>
              </a:rPr>
              <a:t>* Requires technical knowledge for setup and </a:t>
            </a:r>
            <a:r>
              <a:rPr lang="en-US" sz="2400" dirty="0" err="1">
                <a:latin typeface="Times New Roman" panose="02020603050405020304" pitchFamily="18" charset="0"/>
                <a:cs typeface="Times New Roman" panose="02020603050405020304" pitchFamily="18" charset="0"/>
              </a:rPr>
              <a:t>managemen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280</TotalTime>
  <Words>1219</Words>
  <Application>Microsoft Office PowerPoint</Application>
  <PresentationFormat>Custom</PresentationFormat>
  <Paragraphs>377</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Bookman Old Style</vt:lpstr>
      <vt:lpstr>Arial</vt:lpstr>
      <vt:lpstr>Calibri</vt:lpstr>
      <vt:lpstr>Times New Roman</vt:lpstr>
      <vt:lpstr>Cambria</vt:lpstr>
      <vt:lpstr>Gotham</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venkatasubbarao Rachuri</dc:creator>
  <cp:lastModifiedBy>venkatasubbarao Rachuri</cp:lastModifiedBy>
  <cp:revision>13</cp:revision>
  <dcterms:created xsi:type="dcterms:W3CDTF">2006-08-16T00:00:00Z</dcterms:created>
  <dcterms:modified xsi:type="dcterms:W3CDTF">2026-03-22T17:57:40Z</dcterms:modified>
  <dc:identifier>DAHCaYqJ9OU</dc:identifier>
</cp:coreProperties>
</file>