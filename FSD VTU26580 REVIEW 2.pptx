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embedTrueTypeFonts="1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y="10287000" cx="18288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  <p:clrMru>
    <a:srgbClr val="0033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780" y="1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Relationship Id="rId25" Type="http://schemas.openxmlformats.org/officeDocument/2006/relationships/font" Target="fonts/font9.fntdata"/><Relationship Id="rId26" Type="http://schemas.openxmlformats.org/officeDocument/2006/relationships/font" Target="fonts/font10.fntdata"/><Relationship Id="rId27" Type="http://schemas.openxmlformats.org/officeDocument/2006/relationships/tableStyles" Target="tableStyles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7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918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919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920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921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9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1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86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86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104886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6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877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7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104887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8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1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89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9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104889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9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1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898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99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0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104890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0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1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90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0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0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0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0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104890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1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1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868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104886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7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1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91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1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1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104891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1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1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1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882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883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8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104888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8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1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888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8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104889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9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1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1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/>
              <a:t>Click to edit Master title style</a:t>
            </a:r>
          </a:p>
        </p:txBody>
      </p:sp>
      <p:sp>
        <p:nvSpPr>
          <p:cNvPr id="1048872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7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104887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7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7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048584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ah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048585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id="26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1048586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ah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048587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659"/>
                </a:lnSpc>
              </a:pPr>
            </a:p>
          </p:txBody>
        </p:sp>
      </p:grpSp>
      <p:pic>
        <p:nvPicPr>
          <p:cNvPr id="2097152" name="Picture 22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610443" y="196689"/>
            <a:ext cx="4752247" cy="1360611"/>
          </a:xfrm>
          <a:prstGeom prst="rect"/>
        </p:spPr>
      </p:pic>
      <p:sp>
        <p:nvSpPr>
          <p:cNvPr id="1048588" name="TextBox 23"/>
          <p:cNvSpPr txBox="1"/>
          <p:nvPr/>
        </p:nvSpPr>
        <p:spPr>
          <a:xfrm>
            <a:off x="1360002" y="1608482"/>
            <a:ext cx="15925800" cy="1590040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b="1" dirty="0" sz="3200" lang="en-US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b="1" dirty="0" sz="3600" lang="en-US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b="1" dirty="0" sz="3200" lang="en-US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b="1" dirty="0" sz="3200"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589" name="TextBox 25"/>
          <p:cNvSpPr txBox="1"/>
          <p:nvPr/>
        </p:nvSpPr>
        <p:spPr>
          <a:xfrm>
            <a:off x="1692835" y="3272357"/>
            <a:ext cx="15260135" cy="523220"/>
          </a:xfrm>
          <a:prstGeom prst="rect"/>
          <a:noFill/>
        </p:spPr>
        <p:txBody>
          <a:bodyPr wrap="square">
            <a:spAutoFit/>
          </a:bodyPr>
          <a:p>
            <a:pPr algn="ctr"/>
            <a:r>
              <a:rPr b="1" dirty="0" sz="2800" lang="en-US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b="1" dirty="0" sz="2800" lang="en-IN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048590" name="TextBox 26"/>
          <p:cNvSpPr txBox="1"/>
          <p:nvPr/>
        </p:nvSpPr>
        <p:spPr>
          <a:xfrm>
            <a:off x="3727757" y="3897940"/>
            <a:ext cx="11190289" cy="1691641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b="1" dirty="0" sz="3600" lang="en-IN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2</a:t>
            </a:r>
          </a:p>
          <a:p>
            <a:pPr algn="ctr"/>
            <a:endParaRPr b="1" dirty="0" sz="3600" lang="en-IN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b="1" dirty="0" sz="3600" lang="en-IN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16-04-2026</a:t>
            </a:r>
          </a:p>
        </p:txBody>
      </p:sp>
      <p:sp>
        <p:nvSpPr>
          <p:cNvPr id="1048591" name="TextBox 12"/>
          <p:cNvSpPr txBox="1"/>
          <p:nvPr/>
        </p:nvSpPr>
        <p:spPr>
          <a:xfrm>
            <a:off x="5427770" y="5754629"/>
            <a:ext cx="8068310" cy="861774"/>
          </a:xfrm>
          <a:prstGeom prst="rect"/>
          <a:noFill/>
        </p:spPr>
        <p:txBody>
          <a:bodyPr rtlCol="0" wrap="square">
            <a:spAutoFit/>
          </a:bodyPr>
          <a:p>
            <a:r>
              <a:rPr b="1" dirty="0" sz="3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Smart Campus Event Management System</a:t>
            </a:r>
            <a:endParaRPr dirty="0" sz="32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 lang="en-US"/>
              <a:t> </a:t>
            </a:r>
            <a:endParaRPr dirty="0" lang="en-IN"/>
          </a:p>
        </p:txBody>
      </p:sp>
      <p:sp>
        <p:nvSpPr>
          <p:cNvPr id="1048592" name="TextBox 13"/>
          <p:cNvSpPr txBox="1"/>
          <p:nvPr/>
        </p:nvSpPr>
        <p:spPr>
          <a:xfrm>
            <a:off x="893870" y="7800539"/>
            <a:ext cx="9067800" cy="1424940"/>
          </a:xfrm>
          <a:prstGeom prst="rect"/>
          <a:noFill/>
        </p:spPr>
        <p:txBody>
          <a:bodyPr rtlCol="0" wrap="square">
            <a:spAutoFit/>
          </a:bodyPr>
          <a:p>
            <a:pPr>
              <a:lnSpc>
                <a:spcPct val="150000"/>
              </a:lnSpc>
            </a:pPr>
            <a:r>
              <a:rPr b="1" dirty="0" sz="3000" lang="en-US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altLang="en-IN" dirty="0" sz="3000" lang="en-US" err="1">
                <a:latin typeface="Cambria" panose="02040503050406030204" pitchFamily="18" charset="0"/>
                <a:ea typeface="Cambria" panose="02040503050406030204" pitchFamily="18" charset="0"/>
              </a:rPr>
              <a:t>L</a:t>
            </a:r>
            <a:r>
              <a:rPr altLang="en-IN" dirty="0" sz="3000" lang="en-US" err="1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r>
              <a:rPr altLang="en-IN" dirty="0" sz="3000" lang="en-US" err="1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altLang="en-IN" dirty="0" sz="3000" lang="en-US" err="1">
                <a:latin typeface="Cambria" panose="02040503050406030204" pitchFamily="18" charset="0"/>
                <a:ea typeface="Cambria" panose="02040503050406030204" pitchFamily="18" charset="0"/>
              </a:rPr>
              <a:t>E</a:t>
            </a:r>
            <a:r>
              <a:rPr altLang="en-IN" dirty="0" sz="3000" lang="en-US" err="1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altLang="en-IN" dirty="0" sz="3000" lang="en-US" err="1">
                <a:latin typeface="Cambria" panose="02040503050406030204" pitchFamily="18" charset="0"/>
                <a:ea typeface="Cambria" panose="02040503050406030204" pitchFamily="18" charset="0"/>
              </a:rPr>
              <a:t>HASAI</a:t>
            </a:r>
            <a:r>
              <a:rPr altLang="en-IN" dirty="0" sz="3000" lang="en-US" err="1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dirty="0" sz="3000" lang="en-US">
                <a:latin typeface="Cambria" panose="02040503050406030204" pitchFamily="18" charset="0"/>
                <a:ea typeface="Cambria" panose="02040503050406030204" pitchFamily="18" charset="0"/>
              </a:rPr>
              <a:t>– VTU2</a:t>
            </a:r>
            <a:r>
              <a:rPr altLang="en-IN" dirty="0" sz="3000" lang="en-US">
                <a:latin typeface="Cambria" panose="02040503050406030204" pitchFamily="18" charset="0"/>
                <a:ea typeface="Cambria" panose="02040503050406030204" pitchFamily="18" charset="0"/>
              </a:rPr>
              <a:t>6</a:t>
            </a:r>
            <a:r>
              <a:rPr altLang="en-IN" dirty="0" sz="3000" lang="en-US">
                <a:latin typeface="Cambria" panose="02040503050406030204" pitchFamily="18" charset="0"/>
                <a:ea typeface="Cambria" panose="02040503050406030204" pitchFamily="18" charset="0"/>
              </a:rPr>
              <a:t>5</a:t>
            </a:r>
            <a:r>
              <a:rPr altLang="en-IN" dirty="0" sz="3000" lang="en-US">
                <a:latin typeface="Cambria" panose="02040503050406030204" pitchFamily="18" charset="0"/>
                <a:ea typeface="Cambria" panose="02040503050406030204" pitchFamily="18" charset="0"/>
              </a:rPr>
              <a:t>8</a:t>
            </a:r>
            <a:r>
              <a:rPr altLang="en-IN" dirty="0" sz="3000" lang="en-US">
                <a:latin typeface="Cambria" panose="02040503050406030204" pitchFamily="18" charset="0"/>
                <a:ea typeface="Cambria" panose="02040503050406030204" pitchFamily="18" charset="0"/>
              </a:rPr>
              <a:t>0</a:t>
            </a:r>
            <a:r>
              <a:rPr dirty="0" sz="3000" lang="en-US">
                <a:latin typeface="Cambria" panose="02040503050406030204" pitchFamily="18" charset="0"/>
                <a:ea typeface="Cambria" panose="02040503050406030204" pitchFamily="18" charset="0"/>
              </a:rPr>
              <a:t>– Reg.No.23UECS0</a:t>
            </a:r>
            <a:r>
              <a:rPr altLang="en-IN" dirty="0" sz="3000" lang="en-US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r>
              <a:rPr altLang="en-IN" dirty="0" sz="3000" lang="en-US">
                <a:latin typeface="Cambria" panose="02040503050406030204" pitchFamily="18" charset="0"/>
                <a:ea typeface="Cambria" panose="02040503050406030204" pitchFamily="18" charset="0"/>
              </a:rPr>
              <a:t>0</a:t>
            </a:r>
            <a:r>
              <a:rPr altLang="en-IN" dirty="0" sz="3000" lang="en-US">
                <a:latin typeface="Cambria" panose="02040503050406030204" pitchFamily="18" charset="0"/>
                <a:ea typeface="Cambria" panose="02040503050406030204" pitchFamily="18" charset="0"/>
              </a:rPr>
              <a:t>7</a:t>
            </a:r>
            <a:endParaRPr dirty="0" sz="3000"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593" name="TextBox 14"/>
          <p:cNvSpPr txBox="1"/>
          <p:nvPr/>
        </p:nvSpPr>
        <p:spPr>
          <a:xfrm>
            <a:off x="10945035" y="7818586"/>
            <a:ext cx="6914603" cy="1424940"/>
          </a:xfrm>
          <a:prstGeom prst="rect"/>
          <a:noFill/>
        </p:spPr>
        <p:txBody>
          <a:bodyPr rtlCol="0" wrap="square">
            <a:spAutoFit/>
          </a:bodyPr>
          <a:p>
            <a:pPr>
              <a:lnSpc>
                <a:spcPct val="150000"/>
              </a:lnSpc>
            </a:pPr>
            <a:r>
              <a:rPr b="1" dirty="0" sz="3000" lang="en-US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dirty="0" sz="3000" lang="en-US" err="1">
                <a:latin typeface="Cambria" panose="02040503050406030204" pitchFamily="18" charset="0"/>
                <a:ea typeface="Cambria" panose="02040503050406030204" pitchFamily="18" charset="0"/>
              </a:rPr>
              <a:t>Dr.</a:t>
            </a:r>
            <a:r>
              <a:rPr altLang="en-IN" dirty="0" sz="3000" lang="en-US" err="1">
                <a:latin typeface="Cambria" panose="02040503050406030204" pitchFamily="18" charset="0"/>
                <a:ea typeface="Cambria" panose="02040503050406030204" pitchFamily="18" charset="0"/>
              </a:rPr>
              <a:t>H</a:t>
            </a:r>
            <a:r>
              <a:rPr altLang="en-IN" dirty="0" sz="3000" lang="en-US" err="1">
                <a:latin typeface="Cambria" panose="02040503050406030204" pitchFamily="18" charset="0"/>
                <a:ea typeface="Cambria" panose="02040503050406030204" pitchFamily="18" charset="0"/>
              </a:rPr>
              <a:t>a</a:t>
            </a:r>
            <a:r>
              <a:rPr altLang="en-IN" dirty="0" sz="3000" lang="en-US" err="1">
                <a:latin typeface="Cambria" panose="02040503050406030204" pitchFamily="18" charset="0"/>
                <a:ea typeface="Cambria" panose="02040503050406030204" pitchFamily="18" charset="0"/>
              </a:rPr>
              <a:t>f</a:t>
            </a:r>
            <a:r>
              <a:rPr altLang="en-IN" dirty="0" sz="3000" lang="en-US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altLang="en-IN" dirty="0" sz="3000" lang="en-US" err="1">
                <a:latin typeface="Cambria" panose="02040503050406030204" pitchFamily="18" charset="0"/>
                <a:ea typeface="Cambria" panose="02040503050406030204" pitchFamily="18" charset="0"/>
              </a:rPr>
              <a:t>z</a:t>
            </a:r>
            <a:r>
              <a:rPr altLang="en-IN" dirty="0" sz="3000" lang="en-US" err="1">
                <a:latin typeface="Cambria" panose="02040503050406030204" pitchFamily="18" charset="0"/>
                <a:ea typeface="Cambria" panose="02040503050406030204" pitchFamily="18" charset="0"/>
              </a:rPr>
              <a:t>u</a:t>
            </a:r>
            <a:r>
              <a:rPr altLang="en-IN" dirty="0" sz="3000" lang="en-US" err="1"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r>
              <a:rPr altLang="en-IN" dirty="0" sz="3000" lang="en-US" err="1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altLang="en-IN" dirty="0" sz="3000" lang="en-US" err="1"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r>
              <a:rPr altLang="en-IN" dirty="0" sz="3000" lang="en-US" err="1">
                <a:latin typeface="Cambria" panose="02040503050406030204" pitchFamily="18" charset="0"/>
                <a:ea typeface="Cambria" panose="02040503050406030204" pitchFamily="18" charset="0"/>
              </a:rPr>
              <a:t>a</a:t>
            </a:r>
            <a:r>
              <a:rPr altLang="en-IN" dirty="0" sz="3000" lang="en-US" err="1">
                <a:latin typeface="Cambria" panose="02040503050406030204" pitchFamily="18" charset="0"/>
                <a:ea typeface="Cambria" panose="02040503050406030204" pitchFamily="18" charset="0"/>
              </a:rPr>
              <a:t>h</a:t>
            </a:r>
            <a:r>
              <a:rPr altLang="en-IN" dirty="0" sz="3000" lang="en-US" err="1">
                <a:latin typeface="Cambria" panose="02040503050406030204" pitchFamily="18" charset="0"/>
                <a:ea typeface="Cambria" panose="02040503050406030204" pitchFamily="18" charset="0"/>
              </a:rPr>
              <a:t>m</a:t>
            </a:r>
            <a:r>
              <a:rPr altLang="en-IN" dirty="0" sz="3000" lang="en-US" err="1">
                <a:latin typeface="Cambria" panose="02040503050406030204" pitchFamily="18" charset="0"/>
                <a:ea typeface="Cambria" panose="02040503050406030204" pitchFamily="18" charset="0"/>
              </a:rPr>
              <a:t>a</a:t>
            </a:r>
            <a:r>
              <a:rPr altLang="en-IN" dirty="0" sz="3000" lang="en-US" err="1"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endParaRPr dirty="0" sz="3000"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594" name="TextBox 15"/>
          <p:cNvSpPr txBox="1"/>
          <p:nvPr/>
        </p:nvSpPr>
        <p:spPr>
          <a:xfrm>
            <a:off x="2209800" y="6972300"/>
            <a:ext cx="14743170" cy="400110"/>
          </a:xfrm>
          <a:prstGeom prst="rect"/>
          <a:noFill/>
        </p:spPr>
        <p:txBody>
          <a:bodyPr rtlCol="0" wrap="square">
            <a:spAutoFit/>
          </a:bodyPr>
          <a:p>
            <a:r>
              <a:rPr b="1" dirty="0" sz="2000" lang="en-US">
                <a:latin typeface="Cambria" panose="02040503050406030204" pitchFamily="18" charset="0"/>
                <a:ea typeface="Cambria" panose="02040503050406030204" pitchFamily="18" charset="0"/>
              </a:rPr>
              <a:t>SDG: SDG No – SDG Title(Example: SDG 4 – Quality Education)</a:t>
            </a:r>
            <a:endParaRPr b="1" dirty="0" sz="2000"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ah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/>
            <a:stretch>
              <a:fillRect/>
            </a:stretch>
          </a:blipFill>
        </p:spPr>
      </p:sp>
      <p:grpSp>
        <p:nvGrpSpPr>
          <p:cNvPr id="32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48596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ah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048597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sz="2699" lang="en-US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33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048598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599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4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048600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601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5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048602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603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6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1048604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605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37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1048606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607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8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104860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60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9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1048610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611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1048612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613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1048614" name="TextBox 1"/>
          <p:cNvSpPr txBox="1"/>
          <p:nvPr/>
        </p:nvSpPr>
        <p:spPr>
          <a:xfrm>
            <a:off x="152400" y="342900"/>
            <a:ext cx="18135600" cy="830997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b="1" dirty="0" sz="4800" lang="en-US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b="1" dirty="0" sz="4800" lang="en-IN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5" name="TextBox 2"/>
          <p:cNvSpPr txBox="1"/>
          <p:nvPr/>
        </p:nvSpPr>
        <p:spPr>
          <a:xfrm>
            <a:off x="2121134" y="2571499"/>
            <a:ext cx="15138166" cy="7025640"/>
          </a:xfrm>
          <a:prstGeom prst="rect"/>
          <a:noFill/>
        </p:spPr>
        <p:txBody>
          <a:bodyPr rtlCol="0" wrap="square">
            <a:spAutoFit/>
          </a:bodyPr>
          <a:p>
            <a:pPr indent="-571500" marL="571500">
              <a:buFont typeface="Arial" panose="020B0604020202020204" pitchFamily="34" charset="0"/>
              <a:buChar char="•"/>
            </a:pPr>
            <a:r>
              <a:rPr dirty="0" sz="36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 modern campuses, managing events efficiently is a major challenge.</a:t>
            </a:r>
          </a:p>
          <a:p>
            <a:pPr indent="-571500" marL="571500">
              <a:buFont typeface="Arial" panose="020B0604020202020204" pitchFamily="34" charset="0"/>
              <a:buChar char="•"/>
            </a:pPr>
            <a:r>
              <a:rPr dirty="0" sz="36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Students often miss important updates due to scattered communication.</a:t>
            </a:r>
          </a:p>
          <a:p>
            <a:pPr indent="-571500" marL="571500">
              <a:buFont typeface="Arial" panose="020B0604020202020204" pitchFamily="34" charset="0"/>
              <a:buChar char="•"/>
            </a:pPr>
            <a:r>
              <a:rPr dirty="0" sz="36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provides a </a:t>
            </a:r>
            <a:r>
              <a:rPr b="1" dirty="0" sz="36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smart centralized platform</a:t>
            </a:r>
            <a:r>
              <a:rPr dirty="0" sz="36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for managing all campus events.</a:t>
            </a:r>
          </a:p>
          <a:p>
            <a:pPr indent="-571500" marL="571500">
              <a:buFont typeface="Arial" panose="020B0604020202020204" pitchFamily="34" charset="0"/>
              <a:buChar char="•"/>
            </a:pPr>
            <a:r>
              <a:rPr dirty="0" sz="36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It allows students to explore, register, and track events easily.</a:t>
            </a:r>
            <a:br>
              <a:rPr dirty="0" sz="3600"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 sz="36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Admins and organizers can manage events with automation and real-time updates.</a:t>
            </a:r>
          </a:p>
          <a:p>
            <a:pPr indent="-571500" marL="571500">
              <a:buFont typeface="Arial" panose="020B0604020202020204" pitchFamily="34" charset="0"/>
              <a:buChar char="•"/>
            </a:pPr>
            <a:r>
              <a:rPr dirty="0" sz="36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communication and engagement across the campus.</a:t>
            </a:r>
          </a:p>
          <a:p>
            <a:pPr indent="-571500" marL="571500">
              <a:buFont typeface="Arial" panose="020B0604020202020204" pitchFamily="34" charset="0"/>
              <a:buChar char="•"/>
            </a:pPr>
            <a:r>
              <a:rPr dirty="0" sz="36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It ensures all event-related information is accessible anytime.</a:t>
            </a:r>
            <a:br>
              <a:rPr dirty="0" sz="3600"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 sz="36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This solution makes campus event handling more efficient and organized.</a:t>
            </a:r>
            <a:endParaRPr dirty="0" sz="36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ah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/>
            <a:stretch>
              <a:fillRect/>
            </a:stretch>
          </a:blipFill>
        </p:spPr>
      </p:sp>
      <p:grpSp>
        <p:nvGrpSpPr>
          <p:cNvPr id="42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048617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ah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048618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sz="2699" lang="en-US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43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048619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620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44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048621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622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45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048623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624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6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1048625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626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47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10486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6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48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1048629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630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9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1048631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632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50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1048633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634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1048635" name="TextBox 46"/>
          <p:cNvSpPr txBox="1"/>
          <p:nvPr/>
        </p:nvSpPr>
        <p:spPr>
          <a:xfrm>
            <a:off x="152400" y="342900"/>
            <a:ext cx="17907000" cy="830997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b="1" dirty="0" sz="4800" lang="en-US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b="1" dirty="0" sz="4800" lang="en-IN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36" name="TextBox 47"/>
          <p:cNvSpPr txBox="1"/>
          <p:nvPr/>
        </p:nvSpPr>
        <p:spPr>
          <a:xfrm>
            <a:off x="2176975" y="3078502"/>
            <a:ext cx="15082325" cy="6657340"/>
          </a:xfrm>
          <a:prstGeom prst="rect"/>
          <a:noFill/>
        </p:spPr>
        <p:txBody>
          <a:bodyPr rtlCol="0" wrap="square">
            <a:spAutoFit/>
          </a:bodyPr>
          <a:p>
            <a:pPr indent="-571500" marL="571500">
              <a:buFont typeface="Arial" panose="020B0604020202020204" pitchFamily="34" charset="0"/>
              <a:buChar char="•"/>
            </a:pPr>
            <a:r>
              <a:rPr dirty="0" sz="4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Event information in campuses is often unorganized and delayed.</a:t>
            </a:r>
          </a:p>
          <a:p>
            <a:pPr indent="-571500" marL="571500">
              <a:buFont typeface="Arial" panose="020B0604020202020204" pitchFamily="34" charset="0"/>
              <a:buChar char="•"/>
            </a:pPr>
            <a:r>
              <a:rPr dirty="0" sz="4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Students depend on notice boards, WhatsApp groups, or emails.</a:t>
            </a:r>
          </a:p>
          <a:p>
            <a:pPr indent="-571500" marL="571500">
              <a:buFont typeface="Arial" panose="020B0604020202020204" pitchFamily="34" charset="0"/>
              <a:buChar char="•"/>
            </a:pPr>
            <a:r>
              <a:rPr dirty="0" sz="4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unified platform for event registration and tracking.</a:t>
            </a:r>
          </a:p>
          <a:p>
            <a:pPr indent="-571500" marL="571500">
              <a:buFont typeface="Arial" panose="020B0604020202020204" pitchFamily="34" charset="0"/>
              <a:buChar char="•"/>
            </a:pPr>
            <a:r>
              <a:rPr dirty="0" sz="4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Manual handling causes confusion and missed opportunities.</a:t>
            </a:r>
          </a:p>
          <a:p>
            <a:pPr indent="-571500" marL="571500">
              <a:buFont typeface="Arial" panose="020B0604020202020204" pitchFamily="34" charset="0"/>
              <a:buChar char="•"/>
            </a:pPr>
            <a:r>
              <a:rPr dirty="0" sz="4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Organizers face difficulty in managing participants and updates.</a:t>
            </a:r>
          </a:p>
          <a:p>
            <a:pPr indent="-571500" marL="571500">
              <a:buFont typeface="Arial" panose="020B0604020202020204" pitchFamily="34" charset="0"/>
              <a:buChar char="•"/>
            </a:pPr>
            <a:r>
              <a:rPr dirty="0" sz="4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updates reduces participation.</a:t>
            </a:r>
          </a:p>
          <a:p>
            <a:pPr indent="-571500" marL="571500">
              <a:buFont typeface="Arial" panose="020B0604020202020204" pitchFamily="34" charset="0"/>
              <a:buChar char="•"/>
            </a:pPr>
            <a:r>
              <a:rPr dirty="0" sz="4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 smart digital system is needed to solve these issues efficiently</a:t>
            </a:r>
            <a:r>
              <a:rPr dirty="0" sz="4000" lang="en-US"/>
              <a:t>.</a:t>
            </a:r>
          </a:p>
          <a:p>
            <a:pPr indent="-571500" marL="571500">
              <a:buFont typeface="Arial" panose="020B0604020202020204" pitchFamily="34" charset="0"/>
              <a:buChar char="•"/>
            </a:pPr>
            <a:endParaRPr dirty="0" sz="40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1048637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ah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048638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sz="2699" lang="en-US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53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048639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640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54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048641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642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55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048643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644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56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1048645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646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57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1048647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648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58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1048649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650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59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1048651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652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60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1048653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654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1048655" name="TextBox 49"/>
          <p:cNvSpPr txBox="1"/>
          <p:nvPr/>
        </p:nvSpPr>
        <p:spPr>
          <a:xfrm>
            <a:off x="152400" y="342900"/>
            <a:ext cx="17907000" cy="830997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b="1" dirty="0" sz="4800" lang="en-US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b="1" dirty="0" sz="4800" lang="en-IN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5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ah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/>
            <a:stretch>
              <a:fillRect/>
            </a:stretch>
          </a:blipFill>
        </p:spPr>
      </p:sp>
      <p:sp>
        <p:nvSpPr>
          <p:cNvPr id="1048657" name="TextBox 51"/>
          <p:cNvSpPr txBox="1"/>
          <p:nvPr/>
        </p:nvSpPr>
        <p:spPr>
          <a:xfrm>
            <a:off x="2403275" y="3348049"/>
            <a:ext cx="15082325" cy="4091940"/>
          </a:xfrm>
          <a:prstGeom prst="rect"/>
          <a:noFill/>
        </p:spPr>
        <p:txBody>
          <a:bodyPr rtlCol="0" wrap="square">
            <a:spAutoFit/>
          </a:bodyPr>
          <a:p>
            <a:pPr indent="-457200" marL="457200">
              <a:buFont typeface="Arial" panose="020B0604020202020204" pitchFamily="34" charset="0"/>
              <a:buChar char="•"/>
            </a:pPr>
            <a:r>
              <a:rPr dirty="0" sz="4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smart web-based campus event management system </a:t>
            </a:r>
          </a:p>
          <a:p>
            <a:pPr indent="-457200" marL="457200">
              <a:buFont typeface="Arial" panose="020B0604020202020204" pitchFamily="34" charset="0"/>
              <a:buChar char="•"/>
            </a:pPr>
            <a:r>
              <a:rPr dirty="0" sz="4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To provide real-time updates and notifications </a:t>
            </a:r>
          </a:p>
          <a:p>
            <a:pPr indent="-457200" marL="457200">
              <a:buFont typeface="Arial" panose="020B0604020202020204" pitchFamily="34" charset="0"/>
              <a:buChar char="•"/>
            </a:pPr>
            <a:r>
              <a:rPr dirty="0" sz="4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To simplify event registration and participation </a:t>
            </a:r>
          </a:p>
          <a:p>
            <a:pPr indent="-457200" marL="457200">
              <a:buFont typeface="Arial" panose="020B0604020202020204" pitchFamily="34" charset="0"/>
              <a:buChar char="•"/>
            </a:pPr>
            <a:r>
              <a:rPr dirty="0" sz="4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To improve communication between students and organizers </a:t>
            </a:r>
          </a:p>
          <a:p>
            <a:pPr indent="-457200" marL="457200">
              <a:buFont typeface="Arial" panose="020B0604020202020204" pitchFamily="34" charset="0"/>
              <a:buChar char="•"/>
            </a:pPr>
            <a:r>
              <a:rPr dirty="0" sz="4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To create a user-friendly and responsive interface </a:t>
            </a:r>
          </a:p>
          <a:p>
            <a:pPr indent="-457200" marL="457200">
              <a:buFontTx/>
              <a:buChar char="-"/>
            </a:pPr>
            <a:endParaRPr dirty="0" sz="2800"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048658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ah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048659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sz="2699" lang="en-US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63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048660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661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64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048662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663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65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048664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665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66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104866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66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67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1048668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669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68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1048670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671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69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1048672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673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70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1048674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675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104867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ah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/>
            <a:stretch>
              <a:fillRect/>
            </a:stretch>
          </a:blipFill>
        </p:spPr>
      </p:sp>
      <p:sp>
        <p:nvSpPr>
          <p:cNvPr id="1048677" name="TextBox 45"/>
          <p:cNvSpPr txBox="1"/>
          <p:nvPr/>
        </p:nvSpPr>
        <p:spPr>
          <a:xfrm>
            <a:off x="152400" y="342900"/>
            <a:ext cx="17907000" cy="830997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b="1" dirty="0" sz="4800" lang="en-US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b="1" dirty="0" sz="4800" lang="en-IN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78" name="TextBox 47"/>
          <p:cNvSpPr txBox="1"/>
          <p:nvPr/>
        </p:nvSpPr>
        <p:spPr>
          <a:xfrm>
            <a:off x="2254166" y="1741462"/>
            <a:ext cx="15082325" cy="8625839"/>
          </a:xfrm>
          <a:prstGeom prst="rect"/>
          <a:noFill/>
        </p:spPr>
        <p:txBody>
          <a:bodyPr rtlCol="0" wrap="square">
            <a:spAutoFit/>
          </a:bodyPr>
          <a:p>
            <a:pPr indent="-571500" marL="571500">
              <a:buFont typeface="Arial" panose="020B0604020202020204" pitchFamily="34" charset="0"/>
              <a:buChar char="•"/>
            </a:pPr>
            <a:r>
              <a:rPr dirty="0" sz="36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 centralized web-based application to manage all campus events efficiently in one platform </a:t>
            </a:r>
          </a:p>
          <a:p>
            <a:pPr indent="-571500" marL="571500">
              <a:buFont typeface="Arial" panose="020B0604020202020204" pitchFamily="34" charset="0"/>
              <a:buChar char="•"/>
            </a:pPr>
            <a:r>
              <a:rPr dirty="0" sz="36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Built using Spring Boot architecture to ensure scalability, performance, and maintainability </a:t>
            </a:r>
          </a:p>
          <a:p>
            <a:pPr indent="-571500" marL="571500">
              <a:buFont typeface="Arial" panose="020B0604020202020204" pitchFamily="34" charset="0"/>
              <a:buChar char="•"/>
            </a:pPr>
            <a:r>
              <a:rPr dirty="0" sz="36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 system with role-based access for Admin and Student users</a:t>
            </a:r>
          </a:p>
          <a:p>
            <a:pPr indent="-571500" marL="571500">
              <a:buFont typeface="Arial" panose="020B0604020202020204" pitchFamily="34" charset="0"/>
              <a:buChar char="•"/>
            </a:pPr>
            <a:r>
              <a:rPr dirty="0" sz="36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Dynamic event management including creation, updates, and real-time event display</a:t>
            </a:r>
          </a:p>
          <a:p>
            <a:pPr indent="-571500" marL="571500">
              <a:buFont typeface="Arial" panose="020B0604020202020204" pitchFamily="34" charset="0"/>
              <a:buChar char="•"/>
            </a:pPr>
            <a:r>
              <a:rPr dirty="0" sz="36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Admin can add, edit, and delete events while students can view and register for events</a:t>
            </a:r>
          </a:p>
          <a:p>
            <a:pPr indent="-571500" marL="571500">
              <a:buFont typeface="Arial" panose="020B0604020202020204" pitchFamily="34" charset="0"/>
              <a:buChar char="•"/>
            </a:pPr>
            <a:r>
              <a:rPr dirty="0" sz="36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System securely stores event and registration data with proper backend processing </a:t>
            </a:r>
          </a:p>
          <a:p>
            <a:endParaRPr dirty="0" sz="3600" lang="en-US"/>
          </a:p>
          <a:p>
            <a:endParaRPr dirty="0" sz="3600" lang="en-US"/>
          </a:p>
          <a:p>
            <a:endParaRPr dirty="0" sz="3600" lang="en-US"/>
          </a:p>
          <a:p>
            <a:endParaRPr dirty="0" sz="3600"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1048679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ah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048680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sz="2699" lang="en-US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73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1048681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682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74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048683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684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75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04868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68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76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048687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688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77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1048689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690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78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1048691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692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79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1048693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694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80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1048695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696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1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048697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ah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048698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id="1048699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ah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/>
            <a:stretch>
              <a:fillRect/>
            </a:stretch>
          </a:blipFill>
        </p:spPr>
      </p:sp>
      <p:sp>
        <p:nvSpPr>
          <p:cNvPr id="1048700" name="TextBox 41"/>
          <p:cNvSpPr txBox="1"/>
          <p:nvPr/>
        </p:nvSpPr>
        <p:spPr>
          <a:xfrm>
            <a:off x="152400" y="342900"/>
            <a:ext cx="17907000" cy="830997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b="1" dirty="0" sz="4800" lang="en-US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b="1" dirty="0" sz="4800" lang="en-IN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01" name="TextBox 42"/>
          <p:cNvSpPr txBox="1"/>
          <p:nvPr/>
        </p:nvSpPr>
        <p:spPr>
          <a:xfrm>
            <a:off x="2209800" y="1638300"/>
            <a:ext cx="15082325" cy="7559039"/>
          </a:xfrm>
          <a:prstGeom prst="rect"/>
          <a:noFill/>
        </p:spPr>
        <p:txBody>
          <a:bodyPr rtlCol="0" wrap="square">
            <a:spAutoFit/>
          </a:bodyPr>
          <a:p>
            <a:pPr indent="-457200" marL="457200">
              <a:buFont typeface="Arial" panose="020B0604020202020204" pitchFamily="34" charset="0"/>
              <a:buChar char="•"/>
            </a:pPr>
            <a:r>
              <a:rPr dirty="0" sz="36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follows a </a:t>
            </a:r>
            <a:r>
              <a:rPr b="1" dirty="0" sz="36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three-tier architecture</a:t>
            </a:r>
            <a:r>
              <a:rPr dirty="0" sz="36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consisting of Presentation Layer, Application Layer, and Database Layer </a:t>
            </a:r>
          </a:p>
          <a:p>
            <a:pPr indent="-457200" marL="457200">
              <a:buFont typeface="Arial" panose="020B0604020202020204" pitchFamily="34" charset="0"/>
              <a:buChar char="•"/>
            </a:pPr>
            <a:r>
              <a:rPr dirty="0" sz="36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It ensures smooth communication between user interface, backend logic, and data storage </a:t>
            </a:r>
          </a:p>
          <a:p>
            <a:pPr indent="-457200" marL="457200">
              <a:buFont typeface="Arial" panose="020B0604020202020204" pitchFamily="34" charset="0"/>
              <a:buChar char="•"/>
            </a:pPr>
            <a:r>
              <a:rPr dirty="0" sz="36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Provides user interface for Admin and Students using HTML, CSS, and </a:t>
            </a:r>
            <a:r>
              <a:rPr dirty="0" sz="360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dirty="0" sz="36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indent="-457200" marL="457200">
              <a:buFont typeface="Arial" panose="020B0604020202020204" pitchFamily="34" charset="0"/>
              <a:buChar char="•"/>
            </a:pPr>
            <a:r>
              <a:rPr dirty="0" sz="36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Displays event details, registration forms, and dashboards dynamically </a:t>
            </a:r>
          </a:p>
          <a:p>
            <a:pPr indent="-457200" marL="457200">
              <a:buFont typeface="Arial" panose="020B0604020202020204" pitchFamily="34" charset="0"/>
              <a:buChar char="•"/>
            </a:pPr>
            <a:r>
              <a:rPr dirty="0" sz="36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Spring Boot to handle business logic and request processing </a:t>
            </a:r>
          </a:p>
          <a:p>
            <a:pPr indent="-457200" marL="457200">
              <a:buFont typeface="Arial" panose="020B0604020202020204" pitchFamily="34" charset="0"/>
              <a:buChar char="•"/>
            </a:pPr>
            <a:r>
              <a:rPr dirty="0" sz="36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Uses Controllers and Services to manage event operations and user interactions </a:t>
            </a:r>
          </a:p>
          <a:p>
            <a:pPr indent="-457200" marL="457200">
              <a:buFont typeface="Arial" panose="020B0604020202020204" pitchFamily="34" charset="0"/>
              <a:buChar char="•"/>
            </a:pPr>
            <a:r>
              <a:rPr dirty="0" sz="36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Implements authentication and authorization using Spring Security </a:t>
            </a:r>
          </a:p>
          <a:p>
            <a:pPr indent="-457200" marL="457200">
              <a:buFont typeface="Arial" panose="020B0604020202020204" pitchFamily="34" charset="0"/>
              <a:buChar char="•"/>
            </a:pPr>
            <a:r>
              <a:rPr dirty="0" sz="36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 login with role-based access control (Admin &amp; Student) </a:t>
            </a:r>
          </a:p>
          <a:p>
            <a:pPr indent="-457200" marL="457200">
              <a:buFont typeface="Arial" panose="020B0604020202020204" pitchFamily="34" charset="0"/>
              <a:buChar char="•"/>
            </a:pPr>
            <a:r>
              <a:rPr dirty="0" sz="36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Uses MySQL / H2 database to store event, user, and registration data</a:t>
            </a:r>
            <a:endParaRPr dirty="0" sz="36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048702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ah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048703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sz="2699" lang="en-US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84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048704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705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85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048706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707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86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048708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709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87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048710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711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88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1048712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713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89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1048714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715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90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1048716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717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91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1048718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719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104872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ah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/>
            <a:stretch>
              <a:fillRect/>
            </a:stretch>
          </a:blipFill>
        </p:spPr>
      </p:sp>
      <p:sp>
        <p:nvSpPr>
          <p:cNvPr id="1048721" name="TextBox 46"/>
          <p:cNvSpPr txBox="1"/>
          <p:nvPr/>
        </p:nvSpPr>
        <p:spPr>
          <a:xfrm>
            <a:off x="190500" y="315938"/>
            <a:ext cx="17907000" cy="830997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b="1" dirty="0" sz="4800" lang="en-US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b="1" dirty="0" sz="4800" lang="en-IN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22" name="TextBox 4"/>
          <p:cNvSpPr txBox="1"/>
          <p:nvPr/>
        </p:nvSpPr>
        <p:spPr>
          <a:xfrm>
            <a:off x="2590800" y="2327344"/>
            <a:ext cx="14020800" cy="5632311"/>
          </a:xfrm>
          <a:prstGeom prst="rect"/>
          <a:noFill/>
        </p:spPr>
        <p:txBody>
          <a:bodyPr rtlCol="0" wrap="square">
            <a:spAutoFit/>
          </a:bodyPr>
          <a:p>
            <a:pPr indent="-285750" marL="285750">
              <a:buFont typeface="Arial" panose="020B0604020202020204" pitchFamily="34" charset="0"/>
              <a:buChar char="•"/>
            </a:pPr>
            <a:r>
              <a:rPr dirty="0" sz="36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User accesses the system through a web browser and logs in using valid credentials</a:t>
            </a:r>
          </a:p>
          <a:p>
            <a:pPr indent="-285750" marL="285750">
              <a:buFont typeface="Arial" panose="020B0604020202020204" pitchFamily="34" charset="0"/>
              <a:buChar char="•"/>
            </a:pPr>
            <a:r>
              <a:rPr dirty="0" sz="36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authenticates the user and grants access based on role (Admin or Student)</a:t>
            </a:r>
          </a:p>
          <a:p>
            <a:pPr indent="-285750" marL="285750">
              <a:buFont typeface="Arial" panose="020B0604020202020204" pitchFamily="34" charset="0"/>
              <a:buChar char="•"/>
            </a:pPr>
            <a:r>
              <a:rPr dirty="0" sz="36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Admin creates, updates, or deletes event details through the dashboard</a:t>
            </a:r>
          </a:p>
          <a:p>
            <a:pPr indent="-285750" marL="285750">
              <a:buFont typeface="Arial" panose="020B0604020202020204" pitchFamily="34" charset="0"/>
              <a:buChar char="•"/>
            </a:pPr>
            <a:r>
              <a:rPr dirty="0" sz="36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Event data is stored and managed in the database</a:t>
            </a:r>
          </a:p>
          <a:p>
            <a:pPr indent="-285750" marL="285750">
              <a:buFont typeface="Arial" panose="020B0604020202020204" pitchFamily="34" charset="0"/>
              <a:buChar char="•"/>
            </a:pPr>
            <a:r>
              <a:rPr dirty="0" sz="36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Students browse available events and view detailed information</a:t>
            </a:r>
          </a:p>
          <a:p>
            <a:pPr indent="-285750" marL="285750">
              <a:buFont typeface="Arial" panose="020B0604020202020204" pitchFamily="34" charset="0"/>
              <a:buChar char="•"/>
            </a:pPr>
            <a:r>
              <a:rPr dirty="0" sz="36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Students register for selected events through the system</a:t>
            </a:r>
          </a:p>
          <a:p>
            <a:pPr indent="-285750" marL="285750">
              <a:buFont typeface="Arial" panose="020B0604020202020204" pitchFamily="34" charset="0"/>
              <a:buChar char="•"/>
            </a:pPr>
            <a:r>
              <a:rPr dirty="0" sz="36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processes requests and displays updated event and registration information in real time</a:t>
            </a:r>
            <a:endParaRPr dirty="0" sz="36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1048723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ah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048724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sz="2699" lang="en-US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94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048725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726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9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048727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728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96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0487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7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97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048731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732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98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1048733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734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99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1048735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736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0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1048737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738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1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1048739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740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104874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ah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/>
            <a:stretch>
              <a:fillRect/>
            </a:stretch>
          </a:blipFill>
        </p:spPr>
      </p:sp>
      <p:sp>
        <p:nvSpPr>
          <p:cNvPr id="1048742" name="TextBox 46"/>
          <p:cNvSpPr txBox="1"/>
          <p:nvPr/>
        </p:nvSpPr>
        <p:spPr>
          <a:xfrm>
            <a:off x="152400" y="342900"/>
            <a:ext cx="17907000" cy="830997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b="1" dirty="0" sz="4800" lang="en-US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b="1" dirty="0" sz="4800" lang="en-IN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43" name="TextBox 47"/>
          <p:cNvSpPr txBox="1"/>
          <p:nvPr/>
        </p:nvSpPr>
        <p:spPr>
          <a:xfrm>
            <a:off x="2176975" y="1562100"/>
            <a:ext cx="15082325" cy="8279190"/>
          </a:xfrm>
          <a:prstGeom prst="rect"/>
          <a:noFill/>
        </p:spPr>
        <p:txBody>
          <a:bodyPr rtlCol="0" wrap="square">
            <a:spAutoFit/>
          </a:bodyPr>
          <a:p>
            <a:r>
              <a:rPr b="1"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Frontend Technologies</a:t>
            </a:r>
          </a:p>
          <a:p>
            <a:r>
              <a:rPr b="1"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design the structure of web pages such as login, dashboard, and event pages </a:t>
            </a:r>
          </a:p>
          <a:p>
            <a:r>
              <a:rPr b="1"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styling, layout design, and improving user interface appearance </a:t>
            </a:r>
          </a:p>
          <a:p>
            <a:r>
              <a:rPr b="1" dirty="0" sz="280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– Template engine used to dynamically render data from backend to frontend</a:t>
            </a:r>
          </a:p>
          <a:p>
            <a:pPr indent="-457200" marL="457200">
              <a:buFontTx/>
              <a:buChar char="-"/>
            </a:pPr>
            <a:endParaRPr dirty="0" sz="28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b="1"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Backend Technologies</a:t>
            </a:r>
          </a:p>
          <a:p>
            <a:r>
              <a:rPr b="1"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Spring Boot</a:t>
            </a:r>
            <a:r>
              <a:rPr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– Main framework used to build the application and handle backend development </a:t>
            </a:r>
          </a:p>
          <a:p>
            <a:r>
              <a:rPr b="1"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Spring MVC</a:t>
            </a:r>
            <a:r>
              <a:rPr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handling HTTP requests and controlling application flow </a:t>
            </a:r>
          </a:p>
          <a:p>
            <a:r>
              <a:rPr b="1"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Spring Security</a:t>
            </a:r>
            <a:r>
              <a:rPr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authentication and authorization for secure login system </a:t>
            </a:r>
          </a:p>
          <a:p>
            <a:pPr indent="-457200" marL="457200">
              <a:buFontTx/>
              <a:buChar char="-"/>
            </a:pPr>
            <a:endParaRPr dirty="0" sz="28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b="1" dirty="0" sz="2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r>
              <a:rPr b="1" dirty="0" sz="2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MySQL / H2 Database</a:t>
            </a:r>
            <a:r>
              <a:rPr dirty="0" sz="2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store user data, event details, and registration information </a:t>
            </a:r>
          </a:p>
          <a:p>
            <a:r>
              <a:rPr b="1" dirty="0" sz="2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JPA (Java Persistence API)</a:t>
            </a:r>
            <a:r>
              <a:rPr dirty="0" sz="2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database operations and object-relational mapping </a:t>
            </a:r>
          </a:p>
          <a:p>
            <a:endParaRPr dirty="0" sz="28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b="1"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Development Environment</a:t>
            </a:r>
          </a:p>
          <a:p>
            <a:r>
              <a:rPr b="1"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Maven</a:t>
            </a:r>
            <a:r>
              <a:rPr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dependency management and project build </a:t>
            </a:r>
          </a:p>
          <a:p>
            <a:r>
              <a:rPr b="1"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VS Code / Eclipse</a:t>
            </a:r>
            <a:r>
              <a:rPr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– IDEs used for coding and development </a:t>
            </a:r>
          </a:p>
          <a:p>
            <a:r>
              <a:rPr b="1"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Postman</a:t>
            </a:r>
            <a:r>
              <a:rPr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testing APIs and backend services </a:t>
            </a:r>
          </a:p>
          <a:p>
            <a:r>
              <a:rPr b="1"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Web Browser</a:t>
            </a:r>
            <a:r>
              <a:rPr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run and test the application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1048744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ah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048745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sz="2699" lang="en-US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4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048746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747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5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048748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749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0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048750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751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07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048752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753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08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1048754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755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09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104875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75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10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1048758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759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11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1048760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761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1048762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ah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/>
            <a:stretch>
              <a:fillRect/>
            </a:stretch>
          </a:blipFill>
        </p:spPr>
      </p:sp>
      <p:grpSp>
        <p:nvGrpSpPr>
          <p:cNvPr id="112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1048763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ah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048764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id="1048765" name="TextBox 42"/>
          <p:cNvSpPr txBox="1"/>
          <p:nvPr/>
        </p:nvSpPr>
        <p:spPr>
          <a:xfrm>
            <a:off x="152400" y="342900"/>
            <a:ext cx="17907000" cy="830997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b="1" dirty="0" sz="4800" lang="en-US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b="1" dirty="0" sz="4800" lang="en-IN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66" name="TextBox 43"/>
          <p:cNvSpPr txBox="1"/>
          <p:nvPr/>
        </p:nvSpPr>
        <p:spPr>
          <a:xfrm>
            <a:off x="2203101" y="1265170"/>
            <a:ext cx="15082325" cy="8956298"/>
          </a:xfrm>
          <a:prstGeom prst="rect"/>
          <a:noFill/>
        </p:spPr>
        <p:txBody>
          <a:bodyPr rtlCol="0" wrap="square">
            <a:spAutoFit/>
          </a:bodyPr>
          <a:p>
            <a:r>
              <a:rPr b="1" dirty="0" sz="2400" lang="en-US"/>
              <a:t>User Authentication Module</a:t>
            </a:r>
          </a:p>
          <a:p>
            <a:r>
              <a:rPr dirty="0" sz="2400" lang="en-US"/>
              <a:t>Provides secure login functionality for both Admin and Student users </a:t>
            </a:r>
          </a:p>
          <a:p>
            <a:r>
              <a:rPr dirty="0" sz="2400" lang="en-US"/>
              <a:t>Implements role-based access control using Spring Security </a:t>
            </a:r>
          </a:p>
          <a:p>
            <a:r>
              <a:rPr dirty="0" sz="2400" lang="en-US"/>
              <a:t>Validates user credentials and prevents unauthorized access </a:t>
            </a:r>
          </a:p>
          <a:p>
            <a:r>
              <a:rPr dirty="0" sz="2400" lang="en-US"/>
              <a:t>Ensures secure session handling and authentication process </a:t>
            </a:r>
          </a:p>
          <a:p>
            <a:endParaRPr dirty="0" sz="24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b="1" dirty="0" sz="2400" lang="en-US"/>
              <a:t>Event Management Module</a:t>
            </a:r>
          </a:p>
          <a:p>
            <a:r>
              <a:rPr dirty="0" sz="2400" lang="en-US"/>
              <a:t>Allows Admin to create new events with complete details (title, date, description) </a:t>
            </a:r>
          </a:p>
          <a:p>
            <a:r>
              <a:rPr dirty="0" sz="2400" lang="en-US"/>
              <a:t>Enables updating and modifying existing event information </a:t>
            </a:r>
          </a:p>
          <a:p>
            <a:r>
              <a:rPr dirty="0" sz="2400" lang="en-US"/>
              <a:t>Supports deletion of events that are canceled or outdated </a:t>
            </a:r>
          </a:p>
          <a:p>
            <a:r>
              <a:rPr dirty="0" sz="2400" lang="en-US"/>
              <a:t>Maintains all event data in the database for easy access and management</a:t>
            </a:r>
          </a:p>
          <a:p>
            <a:endParaRPr dirty="0" sz="24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b="1" dirty="0" sz="2400" lang="en-US"/>
              <a:t>Event Registration Module</a:t>
            </a:r>
          </a:p>
          <a:p>
            <a:r>
              <a:rPr dirty="0" sz="2400" lang="en-US"/>
              <a:t>Allows students to register for available events through a simple interface </a:t>
            </a:r>
          </a:p>
          <a:p>
            <a:r>
              <a:rPr dirty="0" sz="2400" lang="en-US"/>
              <a:t>Stores participant details securely in the database </a:t>
            </a:r>
          </a:p>
          <a:p>
            <a:r>
              <a:rPr dirty="0" sz="2400" lang="en-US"/>
              <a:t>Helps organizers track the number of registrations </a:t>
            </a:r>
          </a:p>
          <a:p>
            <a:r>
              <a:rPr dirty="0" sz="2400" lang="en-US"/>
              <a:t>Simplifies the registration process compared to manual methods</a:t>
            </a:r>
          </a:p>
          <a:p>
            <a:endParaRPr dirty="0" sz="2400" lang="en-US"/>
          </a:p>
          <a:p>
            <a:r>
              <a:rPr b="1" dirty="0" sz="2400" lang="en-US"/>
              <a:t>Backend Processing Module</a:t>
            </a:r>
          </a:p>
          <a:p>
            <a:r>
              <a:rPr dirty="0" sz="2400" lang="en-US"/>
              <a:t>Handles all client requests using Spring Boot controllers </a:t>
            </a:r>
          </a:p>
          <a:p>
            <a:r>
              <a:rPr dirty="0" sz="2400" lang="en-US"/>
              <a:t>Processes business logic through service layer components </a:t>
            </a:r>
          </a:p>
          <a:p>
            <a:r>
              <a:rPr dirty="0" sz="2400" lang="en-US"/>
              <a:t>Validates input data before storing or processing </a:t>
            </a:r>
          </a:p>
          <a:p>
            <a:r>
              <a:rPr dirty="0" sz="2400" lang="en-US"/>
              <a:t>Ensures smooth communication between frontend and database</a:t>
            </a:r>
          </a:p>
          <a:p>
            <a:endParaRPr dirty="0" sz="2400"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1048767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ah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048768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b="1" dirty="0" sz="2400" lang="en-US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15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048769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770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6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048771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772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17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048773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774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18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048775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776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19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1048777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778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20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1048779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780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21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1048781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782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122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1048783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784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1048785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ah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/>
            <a:stretch>
              <a:fillRect/>
            </a:stretch>
          </a:blipFill>
        </p:spPr>
      </p:sp>
      <p:grpSp>
        <p:nvGrpSpPr>
          <p:cNvPr id="123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104878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ah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04878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id="1048788" name="TextBox 42"/>
          <p:cNvSpPr txBox="1"/>
          <p:nvPr/>
        </p:nvSpPr>
        <p:spPr>
          <a:xfrm>
            <a:off x="152400" y="342900"/>
            <a:ext cx="17907000" cy="830997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b="1" dirty="0" sz="4800" lang="en-US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b="1" dirty="0" sz="4800" lang="en-IN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3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017236" y="1485853"/>
            <a:ext cx="13106400" cy="8191500"/>
          </a:xfrm>
          <a:prstGeom prst="rect"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1048789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ah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048790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b="1" dirty="0" sz="2400" lang="en-US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26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04879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79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27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048793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794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8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048795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796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2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048797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798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30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1048799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800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31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1048801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802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32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1048803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804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133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1048805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806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1048807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ah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/>
            <a:stretch>
              <a:fillRect/>
            </a:stretch>
          </a:blipFill>
        </p:spPr>
      </p:sp>
      <p:grpSp>
        <p:nvGrpSpPr>
          <p:cNvPr id="134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1048808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ah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048809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id="1048810" name="TextBox 42"/>
          <p:cNvSpPr txBox="1"/>
          <p:nvPr/>
        </p:nvSpPr>
        <p:spPr>
          <a:xfrm>
            <a:off x="152400" y="342900"/>
            <a:ext cx="17907000" cy="830997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b="1" dirty="0" sz="4800" lang="en-US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b="1" dirty="0" sz="4800" lang="en-IN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11" name="TextBox 43"/>
          <p:cNvSpPr txBox="1"/>
          <p:nvPr/>
        </p:nvSpPr>
        <p:spPr>
          <a:xfrm>
            <a:off x="2209800" y="1638300"/>
            <a:ext cx="15082325" cy="5693866"/>
          </a:xfrm>
          <a:prstGeom prst="rect"/>
          <a:noFill/>
        </p:spPr>
        <p:txBody>
          <a:bodyPr rtlCol="0" wrap="square">
            <a:spAutoFit/>
          </a:bodyPr>
          <a:p>
            <a:pPr indent="-457200" marL="457200">
              <a:buFontTx/>
              <a:buChar char="-"/>
            </a:pPr>
            <a:endParaRPr dirty="0" sz="2800" lang="en-US"/>
          </a:p>
          <a:p>
            <a:pPr indent="-457200" marL="457200">
              <a:buFontTx/>
              <a:buChar char="-"/>
            </a:pPr>
            <a:endParaRPr dirty="0" sz="2800" lang="en-US"/>
          </a:p>
          <a:p>
            <a:pPr indent="-457200" marL="457200">
              <a:buFontTx/>
              <a:buChar char="-"/>
            </a:pPr>
            <a:endParaRPr dirty="0" sz="2800" lang="en-US"/>
          </a:p>
          <a:p>
            <a:pPr indent="-457200" marL="457200">
              <a:buFontTx/>
              <a:buChar char="-"/>
            </a:pPr>
            <a:endParaRPr dirty="0" sz="2800" lang="en-US"/>
          </a:p>
          <a:p>
            <a:pPr indent="-457200" marL="457200">
              <a:buFontTx/>
              <a:buChar char="-"/>
            </a:pPr>
            <a:endParaRPr dirty="0" sz="2800" lang="en-US"/>
          </a:p>
          <a:p>
            <a:pPr indent="-457200" marL="457200">
              <a:buFontTx/>
              <a:buChar char="-"/>
            </a:pPr>
            <a:endParaRPr dirty="0" sz="2800" lang="en-US"/>
          </a:p>
          <a:p>
            <a:pPr indent="-457200" marL="457200">
              <a:buFontTx/>
              <a:buChar char="-"/>
            </a:pPr>
            <a:endParaRPr dirty="0" sz="2800" lang="en-US"/>
          </a:p>
          <a:p>
            <a:pPr indent="-457200" marL="457200">
              <a:buFontTx/>
              <a:buChar char="-"/>
            </a:pPr>
            <a:endParaRPr dirty="0" sz="2800" lang="en-US"/>
          </a:p>
          <a:p>
            <a:pPr indent="-457200" marL="457200">
              <a:buFontTx/>
              <a:buChar char="-"/>
            </a:pPr>
            <a:endParaRPr dirty="0" sz="2800" lang="en-US"/>
          </a:p>
          <a:p>
            <a:pPr indent="-457200" marL="457200">
              <a:buFontTx/>
              <a:buChar char="-"/>
            </a:pPr>
            <a:endParaRPr dirty="0" sz="2800" lang="en-US"/>
          </a:p>
          <a:p>
            <a:pPr indent="-457200" marL="457200">
              <a:buFontTx/>
              <a:buChar char="-"/>
            </a:pPr>
            <a:endParaRPr dirty="0" sz="2800" lang="en-US"/>
          </a:p>
          <a:p>
            <a:pPr indent="-457200" marL="457200">
              <a:buFontTx/>
              <a:buChar char="-"/>
            </a:pPr>
            <a:endParaRPr dirty="0" sz="2800" lang="en-US"/>
          </a:p>
          <a:p>
            <a:pPr indent="-457200" marL="457200">
              <a:buFontTx/>
              <a:buChar char="-"/>
            </a:pPr>
            <a:endParaRPr dirty="0" sz="2800" lang="en-IN"/>
          </a:p>
        </p:txBody>
      </p:sp>
      <p:pic>
        <p:nvPicPr>
          <p:cNvPr id="2097154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516626" y="1514475"/>
            <a:ext cx="13487400" cy="8429625"/>
          </a:xfrm>
          <a:prstGeom prst="rect"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1048812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ah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048813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b="1" dirty="0" sz="2400" lang="en-US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37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048814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815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8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048816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817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39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048818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819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40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0488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8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1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1048822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823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42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1048824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825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43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1048826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827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144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1048828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829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1048830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ah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/>
            <a:stretch>
              <a:fillRect/>
            </a:stretch>
          </a:blipFill>
        </p:spPr>
      </p:sp>
      <p:grpSp>
        <p:nvGrpSpPr>
          <p:cNvPr id="14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1048831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ah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048832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id="1048833" name="TextBox 42"/>
          <p:cNvSpPr txBox="1"/>
          <p:nvPr/>
        </p:nvSpPr>
        <p:spPr>
          <a:xfrm>
            <a:off x="152400" y="342900"/>
            <a:ext cx="17907000" cy="830997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b="1" dirty="0" sz="4800" lang="en-US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b="1" dirty="0" sz="4800" lang="en-IN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34" name="TextBox 43"/>
          <p:cNvSpPr txBox="1"/>
          <p:nvPr/>
        </p:nvSpPr>
        <p:spPr>
          <a:xfrm>
            <a:off x="2209800" y="1638300"/>
            <a:ext cx="15082325" cy="4832092"/>
          </a:xfrm>
          <a:prstGeom prst="rect"/>
          <a:noFill/>
        </p:spPr>
        <p:txBody>
          <a:bodyPr rtlCol="0" wrap="square">
            <a:spAutoFit/>
          </a:bodyPr>
          <a:p>
            <a:pPr indent="-457200" marL="457200">
              <a:buFontTx/>
              <a:buChar char="-"/>
            </a:pPr>
            <a:endParaRPr dirty="0" sz="2800" lang="en-US"/>
          </a:p>
          <a:p>
            <a:pPr indent="-457200" marL="457200">
              <a:buFontTx/>
              <a:buChar char="-"/>
            </a:pPr>
            <a:endParaRPr dirty="0" sz="2800" lang="en-US"/>
          </a:p>
          <a:p>
            <a:pPr indent="-457200" marL="457200">
              <a:buFontTx/>
              <a:buChar char="-"/>
            </a:pPr>
            <a:endParaRPr dirty="0" sz="2800" lang="en-US"/>
          </a:p>
          <a:p>
            <a:pPr indent="-457200" marL="457200">
              <a:buFontTx/>
              <a:buChar char="-"/>
            </a:pPr>
            <a:endParaRPr dirty="0" sz="2800" lang="en-US"/>
          </a:p>
          <a:p>
            <a:pPr indent="-457200" marL="457200">
              <a:buFontTx/>
              <a:buChar char="-"/>
            </a:pPr>
            <a:endParaRPr dirty="0" sz="2800" lang="en-US"/>
          </a:p>
          <a:p>
            <a:pPr indent="-457200" marL="457200">
              <a:buFontTx/>
              <a:buChar char="-"/>
            </a:pPr>
            <a:endParaRPr dirty="0" sz="2800" lang="en-US"/>
          </a:p>
          <a:p>
            <a:pPr indent="-457200" marL="457200">
              <a:buFontTx/>
              <a:buChar char="-"/>
            </a:pPr>
            <a:endParaRPr dirty="0" sz="2800" lang="en-US"/>
          </a:p>
          <a:p>
            <a:pPr indent="-457200" marL="457200">
              <a:buFontTx/>
              <a:buChar char="-"/>
            </a:pPr>
            <a:endParaRPr dirty="0" sz="2800" lang="en-US"/>
          </a:p>
          <a:p>
            <a:pPr indent="-457200" marL="457200">
              <a:buFontTx/>
              <a:buChar char="-"/>
            </a:pPr>
            <a:endParaRPr dirty="0" sz="2800" lang="en-US"/>
          </a:p>
          <a:p>
            <a:pPr indent="-457200" marL="457200">
              <a:buFontTx/>
              <a:buChar char="-"/>
            </a:pPr>
            <a:endParaRPr dirty="0" sz="2800" lang="en-US"/>
          </a:p>
          <a:p>
            <a:pPr indent="-457200" marL="457200">
              <a:buFontTx/>
              <a:buChar char="-"/>
            </a:pPr>
            <a:endParaRPr dirty="0" sz="2800" lang="en-IN"/>
          </a:p>
        </p:txBody>
      </p:sp>
      <p:pic>
        <p:nvPicPr>
          <p:cNvPr id="2097155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295509" y="1265170"/>
            <a:ext cx="13639800" cy="8524875"/>
          </a:xfrm>
          <a:prstGeom prst="rect"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roup 5"/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1048835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ah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048836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sz="2699" lang="en-US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148" name="Group 8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048837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838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49" name="Group 11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048839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840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50" name="Group 14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048841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842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1" name="Group 17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048843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844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52" name="Group 20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1048845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846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53" name="Group 23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1048847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848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54" name="Group 26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1048849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850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155" name="Group 29"/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1048851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ah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48852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sz="1700" lang="en-US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1048853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ah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/>
            <a:stretch>
              <a:fillRect/>
            </a:stretch>
          </a:blipFill>
        </p:spPr>
      </p:sp>
      <p:grpSp>
        <p:nvGrpSpPr>
          <p:cNvPr id="156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1048854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ah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048855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id="1048856" name="TextBox 1"/>
          <p:cNvSpPr txBox="1"/>
          <p:nvPr/>
        </p:nvSpPr>
        <p:spPr>
          <a:xfrm>
            <a:off x="190500" y="290493"/>
            <a:ext cx="17907000" cy="830997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b="1" dirty="0" sz="4800" lang="en-US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b="1" dirty="0" sz="4800" lang="en-IN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57" name="TextBox 3"/>
          <p:cNvSpPr txBox="1"/>
          <p:nvPr/>
        </p:nvSpPr>
        <p:spPr>
          <a:xfrm>
            <a:off x="2726508" y="1684974"/>
            <a:ext cx="14044612" cy="8402300"/>
          </a:xfrm>
          <a:prstGeom prst="rect"/>
          <a:noFill/>
        </p:spPr>
        <p:txBody>
          <a:bodyPr wrap="square">
            <a:spAutoFit/>
          </a:bodyPr>
          <a:p>
            <a:r>
              <a:rPr b="1" dirty="0" sz="3600" lang="en-US"/>
              <a:t>ADVANTAGES</a:t>
            </a:r>
          </a:p>
          <a:p>
            <a:pPr indent="-571500" marL="571500">
              <a:buFont typeface="Arial" panose="020B0604020202020204" pitchFamily="34" charset="0"/>
              <a:buChar char="•"/>
            </a:pPr>
            <a:r>
              <a:rPr dirty="0" sz="3600" lang="en-US"/>
              <a:t>Provides a </a:t>
            </a:r>
            <a:r>
              <a:rPr b="1" dirty="0" sz="3600" lang="en-US"/>
              <a:t>centralized platform</a:t>
            </a:r>
            <a:r>
              <a:rPr dirty="0" sz="3600" lang="en-US"/>
              <a:t> to manage all campus events in one place </a:t>
            </a:r>
          </a:p>
          <a:p>
            <a:pPr indent="-571500" marL="571500">
              <a:buFont typeface="Arial" panose="020B0604020202020204" pitchFamily="34" charset="0"/>
              <a:buChar char="•"/>
            </a:pPr>
            <a:r>
              <a:rPr dirty="0" sz="3600" lang="en-US"/>
              <a:t>Reduces dependency on manual methods like notice boards and messages </a:t>
            </a:r>
          </a:p>
          <a:p>
            <a:pPr indent="-571500" marL="571500">
              <a:buFont typeface="Arial" panose="020B0604020202020204" pitchFamily="34" charset="0"/>
              <a:buChar char="•"/>
            </a:pPr>
            <a:r>
              <a:rPr dirty="0" sz="3600" lang="en-US"/>
              <a:t>Ensures </a:t>
            </a:r>
            <a:r>
              <a:rPr b="1" dirty="0" sz="3600" lang="en-US"/>
              <a:t>real-time access</a:t>
            </a:r>
            <a:r>
              <a:rPr dirty="0" sz="3600" lang="en-US"/>
              <a:t> to event updates and information </a:t>
            </a:r>
          </a:p>
          <a:p>
            <a:pPr indent="-571500" marL="571500">
              <a:buFont typeface="Arial" panose="020B0604020202020204" pitchFamily="34" charset="0"/>
              <a:buChar char="•"/>
            </a:pPr>
            <a:r>
              <a:rPr dirty="0" sz="3600" lang="en-US"/>
              <a:t>Improves communication between students and event organizers </a:t>
            </a:r>
          </a:p>
          <a:p>
            <a:pPr indent="-571500" marL="571500">
              <a:buFont typeface="Arial" panose="020B0604020202020204" pitchFamily="34" charset="0"/>
              <a:buChar char="•"/>
            </a:pPr>
            <a:r>
              <a:rPr dirty="0" sz="3600" lang="en-US"/>
              <a:t>Simplifies event registration process through an online system </a:t>
            </a:r>
          </a:p>
          <a:p>
            <a:pPr indent="-571500" marL="571500">
              <a:buFont typeface="Arial" panose="020B0604020202020204" pitchFamily="34" charset="0"/>
              <a:buChar char="•"/>
            </a:pPr>
            <a:r>
              <a:rPr dirty="0" sz="3600" lang="en-US"/>
              <a:t>Enhances student participation by making events easily accessible </a:t>
            </a:r>
          </a:p>
          <a:p>
            <a:r>
              <a:rPr b="1" dirty="0" sz="3600" lang="en-US"/>
              <a:t>LIMITATIONS</a:t>
            </a:r>
          </a:p>
          <a:p>
            <a:pPr indent="-571500" marL="571500">
              <a:buFont typeface="Arial" panose="020B0604020202020204" pitchFamily="34" charset="0"/>
              <a:buChar char="•"/>
            </a:pPr>
            <a:r>
              <a:rPr dirty="0" sz="3600" lang="en-US"/>
              <a:t>Requires </a:t>
            </a:r>
            <a:r>
              <a:rPr b="1" dirty="0" sz="3600" lang="en-US"/>
              <a:t>stable internet connection</a:t>
            </a:r>
            <a:r>
              <a:rPr dirty="0" sz="3600" lang="en-US"/>
              <a:t> to access the system </a:t>
            </a:r>
          </a:p>
          <a:p>
            <a:pPr indent="-571500" marL="571500">
              <a:buFont typeface="Arial" panose="020B0604020202020204" pitchFamily="34" charset="0"/>
              <a:buChar char="•"/>
            </a:pPr>
            <a:r>
              <a:rPr dirty="0" sz="3600" lang="en-US"/>
              <a:t>Basic user interface may not be highly interactive or modern </a:t>
            </a:r>
          </a:p>
          <a:p>
            <a:pPr indent="-571500" marL="571500">
              <a:buFont typeface="Arial" panose="020B0604020202020204" pitchFamily="34" charset="0"/>
              <a:buChar char="•"/>
            </a:pPr>
            <a:r>
              <a:rPr dirty="0" sz="3600" lang="en-US"/>
              <a:t>Limited to web platform (no mobile application support) </a:t>
            </a:r>
          </a:p>
          <a:p>
            <a:pPr indent="-571500" marL="571500">
              <a:buFont typeface="Arial" panose="020B0604020202020204" pitchFamily="34" charset="0"/>
              <a:buChar char="•"/>
            </a:pPr>
            <a:r>
              <a:rPr dirty="0" sz="3600" lang="en-US"/>
              <a:t>Notification system (email/SMS) not fully implemented</a:t>
            </a:r>
          </a:p>
          <a:p>
            <a:pPr indent="-571500" marL="571500">
              <a:buFont typeface="Arial" panose="020B0604020202020204" pitchFamily="34" charset="0"/>
              <a:buChar char="•"/>
            </a:pPr>
            <a:endParaRPr dirty="0" sz="36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8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ah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/>
            <a:stretch>
              <a:fillRect/>
            </a:stretch>
          </a:blipFill>
        </p:spPr>
      </p:sp>
      <p:sp>
        <p:nvSpPr>
          <p:cNvPr id="1048859" name="TextBox 43"/>
          <p:cNvSpPr txBox="1"/>
          <p:nvPr/>
        </p:nvSpPr>
        <p:spPr>
          <a:xfrm>
            <a:off x="3200400" y="4486172"/>
            <a:ext cx="11159653" cy="1314655"/>
          </a:xfrm>
          <a:prstGeom prst="rect"/>
        </p:spPr>
        <p:txBody>
          <a:bodyPr anchor="t" bIns="0" lIns="0" rIns="0" rtlCol="0" tIns="0" wrap="square">
            <a:spAutoFit/>
          </a:bodyPr>
          <a:p>
            <a:pPr algn="ctr">
              <a:lnSpc>
                <a:spcPts val="10149"/>
              </a:lnSpc>
            </a:pPr>
            <a:r>
              <a:rPr b="1" dirty="0" sz="11153" i="1" lang="en-US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158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1048860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ah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048861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White and Orange Simple Portfolio Presentation</dc:title>
  <dc:creator>Gouse D</dc:creator>
  <cp:lastModifiedBy>MV AKSHAYA</cp:lastModifiedBy>
  <dcterms:created xsi:type="dcterms:W3CDTF">2006-08-15T13:00:00Z</dcterms:created>
  <dcterms:modified xsi:type="dcterms:W3CDTF">2026-05-06T03:52:18Z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46e1136e93824299ac934cf3e8c915b0</vt:lpwstr>
  </property>
</Properties>
</file>